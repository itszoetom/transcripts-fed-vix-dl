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52" autoAdjust="0"/>
    <p:restoredTop sz="94660"/>
  </p:normalViewPr>
  <p:slideViewPr>
    <p:cSldViewPr snapToGrid="0">
      <p:cViewPr>
        <p:scale>
          <a:sx n="195" d="100"/>
          <a:sy n="195" d="100"/>
        </p:scale>
        <p:origin x="196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119" y="2203530"/>
            <a:ext cx="10837762" cy="2450939"/>
          </a:xfrm>
        </p:spPr>
        <p:txBody>
          <a:bodyPr anchor="ctr">
            <a:normAutofit fontScale="90000"/>
          </a:bodyPr>
          <a:lstStyle/>
          <a:p>
            <a:r>
              <a:rPr lang="en-US" sz="6700" dirty="0"/>
              <a:t>Forecasting Market Volatility (VIX) with Federal Reserve Language</a:t>
            </a:r>
            <a:br>
              <a:rPr lang="en-US" dirty="0"/>
            </a:br>
            <a:br>
              <a:rPr lang="en-US" sz="2700" dirty="0"/>
            </a:br>
            <a:r>
              <a:rPr lang="en-US" sz="2700" dirty="0"/>
              <a:t>Zoe Tomlinson     |     DSCI 410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07D5-9B13-36A3-EEE6-3DEDB50C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C337C-1B7F-59E2-3950-42C003A3800E}"/>
              </a:ext>
            </a:extLst>
          </p:cNvPr>
          <p:cNvSpPr txBox="1"/>
          <p:nvPr/>
        </p:nvSpPr>
        <p:spPr>
          <a:xfrm>
            <a:off x="838200" y="4591612"/>
            <a:ext cx="9642231" cy="153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US" sz="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/>
              <a:t>Personal Interest: </a:t>
            </a:r>
            <a:r>
              <a:rPr lang="en-US" sz="2000" dirty="0"/>
              <a:t>how politics affect the stock market?</a:t>
            </a:r>
          </a:p>
          <a:p>
            <a:pPr lvl="1">
              <a:spcAft>
                <a:spcPts val="500"/>
              </a:spcAft>
            </a:pPr>
            <a:r>
              <a:rPr lang="en-US" sz="2000" dirty="0"/>
              <a:t>Difference in the Trump vs Biden regimes?</a:t>
            </a:r>
          </a:p>
          <a:p>
            <a:pPr lvl="1">
              <a:spcAft>
                <a:spcPts val="200"/>
              </a:spcAft>
            </a:pPr>
            <a:endParaRPr lang="en-US" sz="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/>
              <a:t>Hypothesis: </a:t>
            </a:r>
            <a:r>
              <a:rPr lang="en-US" sz="2000" dirty="0"/>
              <a:t>when Fed text is surprising or hawkish, expected volatility moves</a:t>
            </a:r>
          </a:p>
          <a:p>
            <a:pPr marL="0" indent="0">
              <a:spcAft>
                <a:spcPts val="200"/>
              </a:spcAft>
              <a:buNone/>
            </a:pPr>
            <a:endParaRPr lang="en-US" sz="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000" b="1" dirty="0"/>
              <a:t>Prior work </a:t>
            </a:r>
            <a:r>
              <a:rPr lang="en-US" sz="2000" dirty="0"/>
              <a:t>shows Fed text moves Treasury yields and equities, limited research on VIX</a:t>
            </a:r>
          </a:p>
        </p:txBody>
      </p:sp>
      <p:pic>
        <p:nvPicPr>
          <p:cNvPr id="1026" name="Picture 2" descr="Federal Reserve set to cut rate but may signal a pause to come | The Blade">
            <a:extLst>
              <a:ext uri="{FF2B5EF4-FFF2-40B4-BE49-F238E27FC236}">
                <a16:creationId xmlns:a16="http://schemas.microsoft.com/office/drawing/2014/main" id="{78CB8181-29AE-577B-B743-E7B873C613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2" r="15090"/>
          <a:stretch>
            <a:fillRect/>
          </a:stretch>
        </p:blipFill>
        <p:spPr bwMode="auto">
          <a:xfrm>
            <a:off x="9140340" y="1027906"/>
            <a:ext cx="1619265" cy="160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X - Wikipedia">
            <a:extLst>
              <a:ext uri="{FF2B5EF4-FFF2-40B4-BE49-F238E27FC236}">
                <a16:creationId xmlns:a16="http://schemas.microsoft.com/office/drawing/2014/main" id="{1C1AAEDF-B38D-084C-7365-BDF6F2F4C8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" b="2688"/>
          <a:stretch>
            <a:fillRect/>
          </a:stretch>
        </p:blipFill>
        <p:spPr bwMode="auto">
          <a:xfrm>
            <a:off x="7994470" y="2628559"/>
            <a:ext cx="3911006" cy="273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75F7F4-0127-DB29-246D-5E917F6D7CC8}"/>
              </a:ext>
            </a:extLst>
          </p:cNvPr>
          <p:cNvSpPr txBox="1"/>
          <p:nvPr/>
        </p:nvSpPr>
        <p:spPr>
          <a:xfrm>
            <a:off x="838200" y="1539009"/>
            <a:ext cx="8041105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2000" b="1" dirty="0"/>
              <a:t>Goal: </a:t>
            </a:r>
            <a:r>
              <a:rPr lang="en-US" sz="2000" dirty="0"/>
              <a:t>Train a DL model on Federal Reserve text to identify language patterns predictive of the 10-day forward change in the VIX</a:t>
            </a:r>
          </a:p>
          <a:p>
            <a:pPr>
              <a:spcAft>
                <a:spcPts val="500"/>
              </a:spcAft>
            </a:pPr>
            <a:endParaRPr lang="en-US" sz="100" dirty="0"/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000" b="1" dirty="0"/>
              <a:t>The Federal Reserve (Fed): </a:t>
            </a:r>
            <a:r>
              <a:rPr lang="en-US" sz="2000" dirty="0"/>
              <a:t>U.S. central bank 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Sets interest rates and monetary policy in financial markets</a:t>
            </a:r>
          </a:p>
          <a:p>
            <a:pPr marL="342900" indent="-3429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Independent of politics, but Chair is presidentially appointed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000" b="1" dirty="0"/>
              <a:t>The VIX: </a:t>
            </a:r>
            <a:r>
              <a:rPr lang="en-US" sz="2000" dirty="0"/>
              <a:t>S&amp;P 500’s 30-day implied volatility</a:t>
            </a:r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widely known as the “fear gauge”</a:t>
            </a:r>
          </a:p>
        </p:txBody>
      </p:sp>
    </p:spTree>
    <p:extLst>
      <p:ext uri="{BB962C8B-B14F-4D97-AF65-F5344CB8AC3E}">
        <p14:creationId xmlns:p14="http://schemas.microsoft.com/office/powerpoint/2010/main" val="422501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4987-295E-943F-EC06-72ABB538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326 Fed documents (1993-2026)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A7250-5892-A2ED-A4BF-04AF6289B951}"/>
              </a:ext>
            </a:extLst>
          </p:cNvPr>
          <p:cNvSpPr txBox="1"/>
          <p:nvPr/>
        </p:nvSpPr>
        <p:spPr>
          <a:xfrm>
            <a:off x="7472641" y="3688534"/>
            <a:ext cx="4417150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 dirty="0"/>
              <a:t>Example Humphrey-Hawkins testimony 2004-07-20</a:t>
            </a:r>
          </a:p>
        </p:txBody>
      </p:sp>
      <p:pic>
        <p:nvPicPr>
          <p:cNvPr id="7" name="Picture 6" descr="preprocessed_snippet.png">
            <a:extLst>
              <a:ext uri="{FF2B5EF4-FFF2-40B4-BE49-F238E27FC236}">
                <a16:creationId xmlns:a16="http://schemas.microsoft.com/office/drawing/2014/main" id="{5522687C-3947-F85E-26CA-7F75E11735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4" t="20776" r="16674" b="17054"/>
          <a:stretch>
            <a:fillRect/>
          </a:stretch>
        </p:blipFill>
        <p:spPr>
          <a:xfrm>
            <a:off x="7474568" y="1578441"/>
            <a:ext cx="4413297" cy="21739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DAF043-49DC-835B-CD0A-A030DEA3D5C2}"/>
              </a:ext>
            </a:extLst>
          </p:cNvPr>
          <p:cNvSpPr txBox="1"/>
          <p:nvPr/>
        </p:nvSpPr>
        <p:spPr>
          <a:xfrm>
            <a:off x="459222" y="4378120"/>
            <a:ext cx="409795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dirty="0">
                <a:solidFill>
                  <a:srgbClr val="1F4E79"/>
                </a:solidFill>
              </a:rPr>
              <a:t>Train on pre-2017 data; test on three later eras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87A77-FAEC-CCD5-F02F-3E36DACA3F1C}"/>
              </a:ext>
            </a:extLst>
          </p:cNvPr>
          <p:cNvSpPr txBox="1"/>
          <p:nvPr/>
        </p:nvSpPr>
        <p:spPr>
          <a:xfrm>
            <a:off x="314020" y="4870361"/>
            <a:ext cx="5910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1" dirty="0">
                <a:solidFill>
                  <a:srgbClr val="1A1A1A"/>
                </a:solidFill>
              </a:rPr>
              <a:t>splits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E46C3-52A0-C0E6-152E-E8A4A0D1B8C9}"/>
              </a:ext>
            </a:extLst>
          </p:cNvPr>
          <p:cNvSpPr txBox="1"/>
          <p:nvPr/>
        </p:nvSpPr>
        <p:spPr>
          <a:xfrm>
            <a:off x="-75410" y="5319398"/>
            <a:ext cx="103756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1" dirty="0">
                <a:solidFill>
                  <a:srgbClr val="1A1A1A"/>
                </a:solidFill>
              </a:rPr>
              <a:t>President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31BB98-77C1-82E5-77EA-68C4101BFA91}"/>
              </a:ext>
            </a:extLst>
          </p:cNvPr>
          <p:cNvSpPr txBox="1"/>
          <p:nvPr/>
        </p:nvSpPr>
        <p:spPr>
          <a:xfrm>
            <a:off x="-117937" y="5714740"/>
            <a:ext cx="102304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1" dirty="0">
                <a:solidFill>
                  <a:srgbClr val="1A1A1A"/>
                </a:solidFill>
              </a:rPr>
              <a:t>Fed Chair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ACEED7A-EDD3-6E75-9A1E-FB615580AA94}"/>
              </a:ext>
            </a:extLst>
          </p:cNvPr>
          <p:cNvSpPr/>
          <p:nvPr/>
        </p:nvSpPr>
        <p:spPr>
          <a:xfrm>
            <a:off x="918940" y="4782573"/>
            <a:ext cx="6555549" cy="484748"/>
          </a:xfrm>
          <a:prstGeom prst="roundRect">
            <a:avLst/>
          </a:prstGeom>
          <a:solidFill>
            <a:srgbClr val="A7C7E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 dirty="0">
                <a:solidFill>
                  <a:srgbClr val="1A1A1A"/>
                </a:solidFill>
              </a:rPr>
              <a:t>TRAIN  (1993-2014)  -  </a:t>
            </a:r>
            <a:r>
              <a:rPr lang="en-US" sz="1200" b="1" i="0" dirty="0">
                <a:solidFill>
                  <a:srgbClr val="1A1A1A"/>
                </a:solidFill>
              </a:rPr>
              <a:t>198</a:t>
            </a:r>
            <a:r>
              <a:rPr sz="1200" b="1" i="0" dirty="0">
                <a:solidFill>
                  <a:srgbClr val="1A1A1A"/>
                </a:solidFill>
              </a:rPr>
              <a:t> docs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52E1EAA-C4FD-20C0-198F-00AF8E1BAB18}"/>
              </a:ext>
            </a:extLst>
          </p:cNvPr>
          <p:cNvSpPr/>
          <p:nvPr/>
        </p:nvSpPr>
        <p:spPr>
          <a:xfrm>
            <a:off x="7472259" y="4766487"/>
            <a:ext cx="953364" cy="484748"/>
          </a:xfrm>
          <a:prstGeom prst="roundRect">
            <a:avLst/>
          </a:prstGeom>
          <a:solidFill>
            <a:srgbClr val="FFD27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 dirty="0">
                <a:solidFill>
                  <a:srgbClr val="1A1A1A"/>
                </a:solidFill>
              </a:rPr>
              <a:t>VAL</a:t>
            </a:r>
          </a:p>
          <a:p>
            <a:pPr algn="ctr"/>
            <a:r>
              <a:rPr sz="1200" b="1" i="0" dirty="0">
                <a:solidFill>
                  <a:srgbClr val="1A1A1A"/>
                </a:solidFill>
              </a:rPr>
              <a:t>35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0648A38-2C1D-F627-B062-5A8DB3F86191}"/>
              </a:ext>
            </a:extLst>
          </p:cNvPr>
          <p:cNvSpPr/>
          <p:nvPr/>
        </p:nvSpPr>
        <p:spPr>
          <a:xfrm>
            <a:off x="8432541" y="4766487"/>
            <a:ext cx="1248676" cy="484748"/>
          </a:xfrm>
          <a:prstGeom prst="roundRect">
            <a:avLst/>
          </a:prstGeom>
          <a:solidFill>
            <a:srgbClr val="E89090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>
                <a:solidFill>
                  <a:srgbClr val="1A1A1A"/>
                </a:solidFill>
              </a:rPr>
              <a:t>TEST R1</a:t>
            </a:r>
          </a:p>
          <a:p>
            <a:pPr algn="ctr"/>
            <a:r>
              <a:rPr sz="1200" b="1" i="0">
                <a:solidFill>
                  <a:srgbClr val="1A1A1A"/>
                </a:solidFill>
              </a:rPr>
              <a:t>40 docs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98E4AF0-DAB8-7570-C3E3-DEE962F82A0F}"/>
              </a:ext>
            </a:extLst>
          </p:cNvPr>
          <p:cNvSpPr/>
          <p:nvPr/>
        </p:nvSpPr>
        <p:spPr>
          <a:xfrm>
            <a:off x="9688135" y="4766487"/>
            <a:ext cx="1248676" cy="484748"/>
          </a:xfrm>
          <a:prstGeom prst="roundRect">
            <a:avLst/>
          </a:prstGeom>
          <a:solidFill>
            <a:srgbClr val="90C290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>
                <a:solidFill>
                  <a:srgbClr val="1A1A1A"/>
                </a:solidFill>
              </a:rPr>
              <a:t>TEST R2</a:t>
            </a:r>
          </a:p>
          <a:p>
            <a:pPr algn="ctr"/>
            <a:r>
              <a:rPr sz="1200" b="1" i="0">
                <a:solidFill>
                  <a:srgbClr val="1A1A1A"/>
                </a:solidFill>
              </a:rPr>
              <a:t>40 docs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80FF42-31B4-5661-FA5C-A0274EBB6C4F}"/>
              </a:ext>
            </a:extLst>
          </p:cNvPr>
          <p:cNvSpPr/>
          <p:nvPr/>
        </p:nvSpPr>
        <p:spPr>
          <a:xfrm>
            <a:off x="10939311" y="4766487"/>
            <a:ext cx="566889" cy="484748"/>
          </a:xfrm>
          <a:prstGeom prst="roundRect">
            <a:avLst/>
          </a:prstGeom>
          <a:solidFill>
            <a:srgbClr val="C89BC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>
                <a:solidFill>
                  <a:srgbClr val="1A1A1A"/>
                </a:solidFill>
              </a:rPr>
              <a:t>R3</a:t>
            </a:r>
          </a:p>
          <a:p>
            <a:pPr algn="ctr"/>
            <a:r>
              <a:rPr sz="1200" b="1" i="0">
                <a:solidFill>
                  <a:srgbClr val="1A1A1A"/>
                </a:solidFill>
              </a:rPr>
              <a:t>13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4578D5B-87C2-48ED-1245-C923D1A28D4E}"/>
              </a:ext>
            </a:extLst>
          </p:cNvPr>
          <p:cNvSpPr/>
          <p:nvPr/>
        </p:nvSpPr>
        <p:spPr>
          <a:xfrm>
            <a:off x="918940" y="5284774"/>
            <a:ext cx="2457396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Clinton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FD1199D-30C1-5999-D7B4-8D3E741FC52B}"/>
              </a:ext>
            </a:extLst>
          </p:cNvPr>
          <p:cNvSpPr/>
          <p:nvPr/>
        </p:nvSpPr>
        <p:spPr>
          <a:xfrm>
            <a:off x="3400149" y="5284774"/>
            <a:ext cx="2497352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G. W. Bush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FDC7F19-F509-CE77-DF3C-07799A3A1CFC}"/>
              </a:ext>
            </a:extLst>
          </p:cNvPr>
          <p:cNvSpPr/>
          <p:nvPr/>
        </p:nvSpPr>
        <p:spPr>
          <a:xfrm>
            <a:off x="5897501" y="5276579"/>
            <a:ext cx="2497352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Obama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69AA7B4-4E22-6F9B-4013-BC56EF469F46}"/>
              </a:ext>
            </a:extLst>
          </p:cNvPr>
          <p:cNvSpPr/>
          <p:nvPr/>
        </p:nvSpPr>
        <p:spPr>
          <a:xfrm>
            <a:off x="8422166" y="5272933"/>
            <a:ext cx="1248676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Trump 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20E071-4A0B-A6BB-5919-38DF8FC30D2A}"/>
              </a:ext>
            </a:extLst>
          </p:cNvPr>
          <p:cNvSpPr/>
          <p:nvPr/>
        </p:nvSpPr>
        <p:spPr>
          <a:xfrm>
            <a:off x="9674300" y="5262749"/>
            <a:ext cx="1248676" cy="34624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Biden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931DD04-9806-BB4B-BF5C-497371D21FEC}"/>
              </a:ext>
            </a:extLst>
          </p:cNvPr>
          <p:cNvSpPr/>
          <p:nvPr/>
        </p:nvSpPr>
        <p:spPr>
          <a:xfrm>
            <a:off x="10950647" y="5272039"/>
            <a:ext cx="548627" cy="33695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Trump 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6F7A63C-5E24-FE31-C34A-1F044E550892}"/>
              </a:ext>
            </a:extLst>
          </p:cNvPr>
          <p:cNvSpPr/>
          <p:nvPr/>
        </p:nvSpPr>
        <p:spPr>
          <a:xfrm>
            <a:off x="905105" y="5654105"/>
            <a:ext cx="4076927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Greenspan (1987-2006)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B76C45D-AA9D-0D7E-884F-025791A91B24}"/>
              </a:ext>
            </a:extLst>
          </p:cNvPr>
          <p:cNvSpPr/>
          <p:nvPr/>
        </p:nvSpPr>
        <p:spPr>
          <a:xfrm>
            <a:off x="5009680" y="5654105"/>
            <a:ext cx="2500474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Bernanke (2006-2014)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C701276-CB6B-56E7-4040-8D0F05A7AF6A}"/>
              </a:ext>
            </a:extLst>
          </p:cNvPr>
          <p:cNvSpPr/>
          <p:nvPr/>
        </p:nvSpPr>
        <p:spPr>
          <a:xfrm>
            <a:off x="7537801" y="5646581"/>
            <a:ext cx="1332335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Yellen (2014-2018)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AD09D58-FE08-5425-00D1-7955CAACC5D8}"/>
              </a:ext>
            </a:extLst>
          </p:cNvPr>
          <p:cNvSpPr/>
          <p:nvPr/>
        </p:nvSpPr>
        <p:spPr>
          <a:xfrm>
            <a:off x="8883981" y="5654104"/>
            <a:ext cx="2622219" cy="346249"/>
          </a:xfrm>
          <a:prstGeom prst="roundRect">
            <a:avLst/>
          </a:prstGeom>
          <a:solidFill>
            <a:srgbClr val="F2F2F2"/>
          </a:solidFill>
          <a:ln w="762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0" i="0">
                <a:solidFill>
                  <a:srgbClr val="1A1A1A"/>
                </a:solidFill>
              </a:rPr>
              <a:t>Powell (2018-present)</a:t>
            </a:r>
          </a:p>
        </p:txBody>
      </p:sp>
      <p:cxnSp>
        <p:nvCxnSpPr>
          <p:cNvPr id="27" name="Connector 23">
            <a:extLst>
              <a:ext uri="{FF2B5EF4-FFF2-40B4-BE49-F238E27FC236}">
                <a16:creationId xmlns:a16="http://schemas.microsoft.com/office/drawing/2014/main" id="{0FDF3197-768E-6C53-B320-5790EF7AEB29}"/>
              </a:ext>
            </a:extLst>
          </p:cNvPr>
          <p:cNvCxnSpPr>
            <a:cxnSpLocks/>
          </p:cNvCxnSpPr>
          <p:nvPr/>
        </p:nvCxnSpPr>
        <p:spPr>
          <a:xfrm>
            <a:off x="8412456" y="4794034"/>
            <a:ext cx="0" cy="1373452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8F17F24-3209-AF4B-8469-802602E78786}"/>
              </a:ext>
            </a:extLst>
          </p:cNvPr>
          <p:cNvSpPr txBox="1"/>
          <p:nvPr/>
        </p:nvSpPr>
        <p:spPr>
          <a:xfrm>
            <a:off x="7758864" y="4332369"/>
            <a:ext cx="127953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1F4E79"/>
                </a:solidFill>
              </a:rPr>
              <a:t>2017-01-20</a:t>
            </a:r>
          </a:p>
          <a:p>
            <a:pPr algn="ctr"/>
            <a:r>
              <a:rPr sz="1200" b="1" i="0" dirty="0">
                <a:solidFill>
                  <a:srgbClr val="1F4E79"/>
                </a:solidFill>
              </a:rPr>
              <a:t>Trump 1 </a:t>
            </a:r>
            <a:r>
              <a:rPr sz="1200" b="1" i="0" dirty="0" err="1">
                <a:solidFill>
                  <a:srgbClr val="1F4E79"/>
                </a:solidFill>
              </a:rPr>
              <a:t>inaug</a:t>
            </a:r>
            <a:r>
              <a:rPr sz="1200" b="1" i="0" dirty="0">
                <a:solidFill>
                  <a:srgbClr val="1F4E79"/>
                </a:solidFill>
              </a:rPr>
              <a:t>.</a:t>
            </a:r>
          </a:p>
        </p:txBody>
      </p:sp>
      <p:cxnSp>
        <p:nvCxnSpPr>
          <p:cNvPr id="29" name="Connector 25">
            <a:extLst>
              <a:ext uri="{FF2B5EF4-FFF2-40B4-BE49-F238E27FC236}">
                <a16:creationId xmlns:a16="http://schemas.microsoft.com/office/drawing/2014/main" id="{17C3F3B1-618E-EE81-DBBE-8ECEF32CD010}"/>
              </a:ext>
            </a:extLst>
          </p:cNvPr>
          <p:cNvCxnSpPr>
            <a:cxnSpLocks/>
          </p:cNvCxnSpPr>
          <p:nvPr/>
        </p:nvCxnSpPr>
        <p:spPr>
          <a:xfrm>
            <a:off x="9681217" y="4818031"/>
            <a:ext cx="0" cy="1373452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99B3963-1942-3163-549D-B1973D87BDBF}"/>
              </a:ext>
            </a:extLst>
          </p:cNvPr>
          <p:cNvSpPr txBox="1"/>
          <p:nvPr/>
        </p:nvSpPr>
        <p:spPr>
          <a:xfrm>
            <a:off x="9138623" y="4346181"/>
            <a:ext cx="109123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1F4E79"/>
                </a:solidFill>
              </a:rPr>
              <a:t>2021-01-20</a:t>
            </a:r>
          </a:p>
          <a:p>
            <a:pPr algn="ctr"/>
            <a:r>
              <a:rPr sz="1200" b="1" i="0" dirty="0">
                <a:solidFill>
                  <a:srgbClr val="1F4E79"/>
                </a:solidFill>
              </a:rPr>
              <a:t>Biden </a:t>
            </a:r>
            <a:r>
              <a:rPr sz="1200" b="1" i="0" dirty="0" err="1">
                <a:solidFill>
                  <a:srgbClr val="1F4E79"/>
                </a:solidFill>
              </a:rPr>
              <a:t>inaug</a:t>
            </a:r>
            <a:r>
              <a:rPr sz="1200" b="1" i="0" dirty="0">
                <a:solidFill>
                  <a:srgbClr val="1F4E79"/>
                </a:solidFill>
              </a:rPr>
              <a:t>.</a:t>
            </a:r>
          </a:p>
        </p:txBody>
      </p:sp>
      <p:cxnSp>
        <p:nvCxnSpPr>
          <p:cNvPr id="31" name="Connector 27">
            <a:extLst>
              <a:ext uri="{FF2B5EF4-FFF2-40B4-BE49-F238E27FC236}">
                <a16:creationId xmlns:a16="http://schemas.microsoft.com/office/drawing/2014/main" id="{C7214516-DAEE-EE2C-7658-8168200A2D24}"/>
              </a:ext>
            </a:extLst>
          </p:cNvPr>
          <p:cNvCxnSpPr>
            <a:cxnSpLocks/>
          </p:cNvCxnSpPr>
          <p:nvPr/>
        </p:nvCxnSpPr>
        <p:spPr>
          <a:xfrm>
            <a:off x="10949390" y="4870361"/>
            <a:ext cx="0" cy="1373452"/>
          </a:xfrm>
          <a:prstGeom prst="line">
            <a:avLst/>
          </a:prstGeom>
          <a:ln w="17780">
            <a:solidFill>
              <a:srgbClr val="1F4E7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9F834B6-741A-E155-18AE-1A582C690A7E}"/>
              </a:ext>
            </a:extLst>
          </p:cNvPr>
          <p:cNvSpPr txBox="1"/>
          <p:nvPr/>
        </p:nvSpPr>
        <p:spPr>
          <a:xfrm>
            <a:off x="10243680" y="4332368"/>
            <a:ext cx="125559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1F4E79"/>
                </a:solidFill>
              </a:rPr>
              <a:t>2025-01-20</a:t>
            </a:r>
          </a:p>
          <a:p>
            <a:pPr algn="ctr"/>
            <a:r>
              <a:rPr sz="1200" b="1" i="0" dirty="0">
                <a:solidFill>
                  <a:srgbClr val="1F4E79"/>
                </a:solidFill>
              </a:rPr>
              <a:t>Trump 2 </a:t>
            </a:r>
            <a:r>
              <a:rPr sz="1200" b="1" i="0" dirty="0" err="1">
                <a:solidFill>
                  <a:srgbClr val="1F4E79"/>
                </a:solidFill>
              </a:rPr>
              <a:t>inaug</a:t>
            </a:r>
            <a:r>
              <a:rPr sz="1200" b="1" i="0" dirty="0">
                <a:solidFill>
                  <a:srgbClr val="1F4E79"/>
                </a:solidFill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7286DE-ED84-6D7D-8E26-423D99BAACC2}"/>
              </a:ext>
            </a:extLst>
          </p:cNvPr>
          <p:cNvSpPr txBox="1"/>
          <p:nvPr/>
        </p:nvSpPr>
        <p:spPr>
          <a:xfrm>
            <a:off x="703062" y="6105313"/>
            <a:ext cx="73684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1993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EAB85F-9CA9-9264-E13A-2C6E752191E1}"/>
              </a:ext>
            </a:extLst>
          </p:cNvPr>
          <p:cNvSpPr txBox="1"/>
          <p:nvPr/>
        </p:nvSpPr>
        <p:spPr>
          <a:xfrm>
            <a:off x="3470701" y="6110139"/>
            <a:ext cx="763255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2001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C8FDA4-03A2-E3EF-2ADE-ECE788865C4B}"/>
              </a:ext>
            </a:extLst>
          </p:cNvPr>
          <p:cNvSpPr txBox="1"/>
          <p:nvPr/>
        </p:nvSpPr>
        <p:spPr>
          <a:xfrm>
            <a:off x="5727080" y="6215876"/>
            <a:ext cx="735555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2009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4E75B3-2894-B477-F586-DF3EE722AF85}"/>
              </a:ext>
            </a:extLst>
          </p:cNvPr>
          <p:cNvSpPr txBox="1"/>
          <p:nvPr/>
        </p:nvSpPr>
        <p:spPr>
          <a:xfrm>
            <a:off x="8069396" y="6194628"/>
            <a:ext cx="68611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2017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FB91BC-AF18-A5CD-4F73-E3D4BC81B4F7}"/>
              </a:ext>
            </a:extLst>
          </p:cNvPr>
          <p:cNvSpPr txBox="1"/>
          <p:nvPr/>
        </p:nvSpPr>
        <p:spPr>
          <a:xfrm>
            <a:off x="9325191" y="6181375"/>
            <a:ext cx="69130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E28CFC-2C9D-C1E3-EA2E-09393B028A7E}"/>
              </a:ext>
            </a:extLst>
          </p:cNvPr>
          <p:cNvSpPr txBox="1"/>
          <p:nvPr/>
        </p:nvSpPr>
        <p:spPr>
          <a:xfrm>
            <a:off x="10533996" y="6181374"/>
            <a:ext cx="83706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 dirty="0">
                <a:solidFill>
                  <a:srgbClr val="1A1A1A"/>
                </a:solidFill>
              </a:rPr>
              <a:t>2025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62C527-486B-1383-E13B-E1E8723C851A}"/>
              </a:ext>
            </a:extLst>
          </p:cNvPr>
          <p:cNvSpPr txBox="1"/>
          <p:nvPr/>
        </p:nvSpPr>
        <p:spPr>
          <a:xfrm>
            <a:off x="617137" y="1396581"/>
            <a:ext cx="6920664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b="1" dirty="0"/>
              <a:t>Sources from </a:t>
            </a:r>
            <a:r>
              <a:rPr lang="en-US" b="1" dirty="0" err="1"/>
              <a:t>federalreserve.gov</a:t>
            </a:r>
            <a:r>
              <a:rPr lang="en-US" b="1" dirty="0"/>
              <a:t> </a:t>
            </a:r>
            <a:r>
              <a:rPr lang="en-US" dirty="0"/>
              <a:t>(5-10k words per doc)</a:t>
            </a:r>
            <a:endParaRPr lang="en-US" b="1"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/>
              <a:t>Federal Open Market Committee (FOMC) minutes (268)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committee that meets 8 times a year and decides monetary policy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/>
              <a:t>Humphrey-Hawkins testimony (58)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twice-yearly testimony Fed Chair reports to Congress on monetary policy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b="1" dirty="0"/>
              <a:t>Preprocessing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First 80 sentences to best capture the policy rationale </a:t>
            </a:r>
          </a:p>
          <a:p>
            <a:pPr>
              <a:spcAft>
                <a:spcPts val="500"/>
              </a:spcAft>
            </a:pPr>
            <a:r>
              <a:rPr lang="en-US" b="1" dirty="0"/>
              <a:t>Target: </a:t>
            </a:r>
            <a:r>
              <a:rPr lang="en-US" dirty="0"/>
              <a:t>10-day forward change in CBOE VIX (FRED VIXCLS)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/>
              <a:t>Aligned to next trading day to avoid look-ahead leakage</a:t>
            </a:r>
          </a:p>
        </p:txBody>
      </p:sp>
    </p:spTree>
    <p:extLst>
      <p:ext uri="{BB962C8B-B14F-4D97-AF65-F5344CB8AC3E}">
        <p14:creationId xmlns:p14="http://schemas.microsoft.com/office/powerpoint/2010/main" val="244167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FD49-9CA4-549B-3861-0C943CE4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FinBERT</a:t>
            </a:r>
            <a:r>
              <a:rPr lang="en-US" dirty="0"/>
              <a:t> + Sentence Attention + Linear Head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0A5D41-4F0B-A393-CE9E-D5474464E1AA}"/>
              </a:ext>
            </a:extLst>
          </p:cNvPr>
          <p:cNvSpPr/>
          <p:nvPr/>
        </p:nvSpPr>
        <p:spPr>
          <a:xfrm>
            <a:off x="365760" y="1437469"/>
            <a:ext cx="4132578" cy="1685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t"/>
          <a:lstStyle/>
          <a:p>
            <a:pPr algn="ctr"/>
            <a:r>
              <a:rPr sz="1600" b="1" dirty="0">
                <a:solidFill>
                  <a:srgbClr val="1F4E79"/>
                </a:solidFill>
              </a:rPr>
              <a:t>Document (80 sentences)</a:t>
            </a:r>
          </a:p>
          <a:p>
            <a:endParaRPr sz="100" b="1" dirty="0">
              <a:solidFill>
                <a:srgbClr val="1F4E79"/>
              </a:solidFill>
            </a:endParaRPr>
          </a:p>
          <a:p>
            <a:pPr algn="l"/>
            <a:r>
              <a:rPr sz="1200" dirty="0">
                <a:solidFill>
                  <a:srgbClr val="1A1A1A"/>
                </a:solidFill>
              </a:rPr>
              <a:t>[1]</a:t>
            </a:r>
            <a:r>
              <a:rPr lang="en-US" sz="1200" dirty="0">
                <a:solidFill>
                  <a:srgbClr val="1A1A1A"/>
                </a:solidFill>
              </a:rPr>
              <a:t> FRB Testimony header / FOMC Minutes header</a:t>
            </a:r>
            <a:endParaRPr sz="1200" dirty="0">
              <a:solidFill>
                <a:srgbClr val="1A1A1A"/>
              </a:solidFill>
            </a:endParaRPr>
          </a:p>
          <a:p>
            <a:pPr algn="l"/>
            <a:r>
              <a:rPr sz="1200" dirty="0">
                <a:solidFill>
                  <a:srgbClr val="1A1A1A"/>
                </a:solidFill>
              </a:rPr>
              <a:t>[2] The performance of the U.S. economy has been quite favorable.</a:t>
            </a:r>
          </a:p>
          <a:p>
            <a:pPr algn="l"/>
            <a:r>
              <a:rPr sz="1200" dirty="0">
                <a:solidFill>
                  <a:srgbClr val="1A1A1A"/>
                </a:solidFill>
              </a:rPr>
              <a:t>[3] Real GDP growth picked up to more than three percent ...</a:t>
            </a:r>
          </a:p>
          <a:p>
            <a:pPr algn="l"/>
            <a:r>
              <a:rPr sz="1200" dirty="0">
                <a:solidFill>
                  <a:srgbClr val="1A1A1A"/>
                </a:solidFill>
              </a:rPr>
              <a:t>[4] Employers added more than two-and-a-half million workers ...</a:t>
            </a:r>
          </a:p>
          <a:p>
            <a:pPr algn="l"/>
            <a:r>
              <a:rPr sz="1200" dirty="0">
                <a:solidFill>
                  <a:srgbClr val="1A1A1A"/>
                </a:solidFill>
              </a:rPr>
              <a:t>[5] (... 75 more sentences)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6DF4032E-A5DF-C6CB-4031-8D36D860DA20}"/>
              </a:ext>
            </a:extLst>
          </p:cNvPr>
          <p:cNvSpPr/>
          <p:nvPr/>
        </p:nvSpPr>
        <p:spPr>
          <a:xfrm>
            <a:off x="4585648" y="2154081"/>
            <a:ext cx="688533" cy="219425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ABC4B0-9ACB-8C25-B8F4-115001581BFE}"/>
              </a:ext>
            </a:extLst>
          </p:cNvPr>
          <p:cNvSpPr/>
          <p:nvPr/>
        </p:nvSpPr>
        <p:spPr>
          <a:xfrm>
            <a:off x="5296580" y="1375598"/>
            <a:ext cx="2798883" cy="16855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600" b="1" i="0" dirty="0" err="1">
                <a:solidFill>
                  <a:srgbClr val="1A1A1A"/>
                </a:solidFill>
              </a:rPr>
              <a:t>FinBERT</a:t>
            </a:r>
            <a:r>
              <a:rPr lang="en-US" sz="1600" b="1" dirty="0">
                <a:solidFill>
                  <a:srgbClr val="1A1A1A"/>
                </a:solidFill>
              </a:rPr>
              <a:t> </a:t>
            </a:r>
            <a:r>
              <a:rPr sz="1600" b="1" i="0" dirty="0">
                <a:solidFill>
                  <a:srgbClr val="1A1A1A"/>
                </a:solidFill>
              </a:rPr>
              <a:t>(frozen)</a:t>
            </a:r>
          </a:p>
          <a:p>
            <a:endParaRPr lang="en-US" sz="1200" dirty="0">
              <a:solidFill>
                <a:srgbClr val="1A1A1A"/>
              </a:solidFill>
            </a:endParaRPr>
          </a:p>
          <a:p>
            <a:r>
              <a:rPr lang="en-US" sz="1200" dirty="0">
                <a:solidFill>
                  <a:srgbClr val="1A1A1A"/>
                </a:solidFill>
              </a:rPr>
              <a:t> - Frozen pretrained encoder</a:t>
            </a:r>
          </a:p>
          <a:p>
            <a:r>
              <a:rPr lang="en-US" sz="1200" dirty="0">
                <a:solidFill>
                  <a:srgbClr val="1A1A1A"/>
                </a:solidFill>
              </a:rPr>
              <a:t>  - Pretrained on 4.9B financial tokens, so it generates better Fed embeddings than generic BERT                                                                                </a:t>
            </a:r>
          </a:p>
          <a:p>
            <a:r>
              <a:rPr lang="en-US" sz="1200" dirty="0">
                <a:solidFill>
                  <a:srgbClr val="1A1A1A"/>
                </a:solidFill>
              </a:rPr>
              <a:t>  - Frozen because 233 docs is too few to fine-tune 110M parameters </a:t>
            </a:r>
            <a:endParaRPr sz="1200" i="0" dirty="0">
              <a:solidFill>
                <a:srgbClr val="1A1A1A"/>
              </a:solidFill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1049916-2CA5-FD21-F53C-B1C917974F4A}"/>
              </a:ext>
            </a:extLst>
          </p:cNvPr>
          <p:cNvSpPr/>
          <p:nvPr/>
        </p:nvSpPr>
        <p:spPr>
          <a:xfrm>
            <a:off x="8149288" y="2097107"/>
            <a:ext cx="630466" cy="235441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5C20354-61A8-F331-6FF0-3C870C13AEFE}"/>
              </a:ext>
            </a:extLst>
          </p:cNvPr>
          <p:cNvSpPr/>
          <p:nvPr/>
        </p:nvSpPr>
        <p:spPr>
          <a:xfrm rot="10800000">
            <a:off x="4822419" y="4039431"/>
            <a:ext cx="688533" cy="219425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518898B-DBD0-5414-9464-F58CE0EA96CB}"/>
              </a:ext>
            </a:extLst>
          </p:cNvPr>
          <p:cNvSpPr/>
          <p:nvPr/>
        </p:nvSpPr>
        <p:spPr>
          <a:xfrm>
            <a:off x="8647306" y="3639816"/>
            <a:ext cx="3241318" cy="19308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Additive</a:t>
            </a:r>
            <a:r>
              <a:rPr lang="en-US" sz="1600" b="1" i="0" dirty="0">
                <a:solidFill>
                  <a:srgbClr val="FFFFFF"/>
                </a:solidFill>
              </a:rPr>
              <a:t> </a:t>
            </a:r>
            <a:r>
              <a:rPr sz="1600" b="1" i="0" dirty="0">
                <a:solidFill>
                  <a:srgbClr val="FFFFFF"/>
                </a:solidFill>
              </a:rPr>
              <a:t>attention</a:t>
            </a:r>
            <a:r>
              <a:rPr lang="en-US" sz="1600" b="1" dirty="0">
                <a:solidFill>
                  <a:srgbClr val="FFFFFF"/>
                </a:solidFill>
              </a:rPr>
              <a:t> </a:t>
            </a:r>
            <a:r>
              <a:rPr sz="1600" b="1" i="0" dirty="0">
                <a:solidFill>
                  <a:srgbClr val="FFFFFF"/>
                </a:solidFill>
              </a:rPr>
              <a:t>(trained)</a:t>
            </a:r>
          </a:p>
          <a:p>
            <a:pPr algn="ctr"/>
            <a:endParaRPr sz="1200" b="1" i="0" dirty="0">
              <a:solidFill>
                <a:srgbClr val="FFFFF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Takes a weighted sum over the 80 sentence embeddings to make one document vector                                                                                       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 small MLP scores each sentence; </a:t>
            </a:r>
            <a:r>
              <a:rPr lang="en-US" sz="1200" dirty="0" err="1">
                <a:solidFill>
                  <a:srgbClr val="FFFFFF"/>
                </a:solidFill>
              </a:rPr>
              <a:t>softmax</a:t>
            </a:r>
            <a:r>
              <a:rPr lang="en-US" sz="1200" dirty="0">
                <a:solidFill>
                  <a:srgbClr val="FFFFFF"/>
                </a:solidFill>
              </a:rPr>
              <a:t> turns scores into weights; weighted sum is the doc vector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Trainable (~99k parameters), gives interpretable per-sentence weights </a:t>
            </a:r>
            <a:endParaRPr sz="1200" dirty="0">
              <a:solidFill>
                <a:srgbClr val="FFFFFF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F38D88-8103-D3ED-7308-A3D1241C4D3E}"/>
              </a:ext>
            </a:extLst>
          </p:cNvPr>
          <p:cNvGrpSpPr/>
          <p:nvPr/>
        </p:nvGrpSpPr>
        <p:grpSpPr>
          <a:xfrm>
            <a:off x="5524056" y="3514379"/>
            <a:ext cx="2605825" cy="1785872"/>
            <a:chOff x="9281375" y="1783080"/>
            <a:chExt cx="2605825" cy="2103120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CC1A068-3A9D-928B-A025-BF6E6317C3B8}"/>
                </a:ext>
              </a:extLst>
            </p:cNvPr>
            <p:cNvSpPr/>
            <p:nvPr/>
          </p:nvSpPr>
          <p:spPr>
            <a:xfrm>
              <a:off x="9281375" y="1783080"/>
              <a:ext cx="2605825" cy="21031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4E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endParaRPr sz="12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64F4D4-CBEF-763D-AE86-EB56ACA91282}"/>
                </a:ext>
              </a:extLst>
            </p:cNvPr>
            <p:cNvSpPr txBox="1"/>
            <p:nvPr/>
          </p:nvSpPr>
          <p:spPr>
            <a:xfrm>
              <a:off x="9434381" y="1813784"/>
              <a:ext cx="2299812" cy="39869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 i="0" dirty="0">
                  <a:solidFill>
                    <a:srgbClr val="1F4E79"/>
                  </a:solidFill>
                </a:rPr>
                <a:t>Attention weight</a:t>
              </a:r>
            </a:p>
          </p:txBody>
        </p:sp>
        <p:pic>
          <p:nvPicPr>
            <p:cNvPr id="17" name="Picture 16" descr="_attn_bars.png">
              <a:extLst>
                <a:ext uri="{FF2B5EF4-FFF2-40B4-BE49-F238E27FC236}">
                  <a16:creationId xmlns:a16="http://schemas.microsoft.com/office/drawing/2014/main" id="{5157BF33-433F-A0C0-068B-FCF559765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48375" y="2152070"/>
              <a:ext cx="2048255" cy="1645919"/>
            </a:xfrm>
            <a:prstGeom prst="rect">
              <a:avLst/>
            </a:prstGeom>
          </p:spPr>
        </p:pic>
      </p:grpSp>
      <p:sp>
        <p:nvSpPr>
          <p:cNvPr id="18" name="Right Arrow 17">
            <a:extLst>
              <a:ext uri="{FF2B5EF4-FFF2-40B4-BE49-F238E27FC236}">
                <a16:creationId xmlns:a16="http://schemas.microsoft.com/office/drawing/2014/main" id="{0DEE4965-D00E-D3CA-1A7D-775269E93883}"/>
              </a:ext>
            </a:extLst>
          </p:cNvPr>
          <p:cNvSpPr/>
          <p:nvPr/>
        </p:nvSpPr>
        <p:spPr>
          <a:xfrm rot="5400000">
            <a:off x="10075439" y="3311335"/>
            <a:ext cx="360805" cy="174133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A933B67-3650-B91F-C4A1-D06DA14C99BE}"/>
              </a:ext>
            </a:extLst>
          </p:cNvPr>
          <p:cNvSpPr/>
          <p:nvPr/>
        </p:nvSpPr>
        <p:spPr>
          <a:xfrm>
            <a:off x="2164782" y="3396399"/>
            <a:ext cx="2657635" cy="223532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127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</a:rPr>
              <a:t>Linear</a:t>
            </a:r>
            <a:r>
              <a:rPr lang="en-US" sz="1600" b="1" i="0" dirty="0">
                <a:solidFill>
                  <a:srgbClr val="FFFFFF"/>
                </a:solidFill>
              </a:rPr>
              <a:t> </a:t>
            </a:r>
            <a:r>
              <a:rPr sz="1600" b="1" i="0" dirty="0">
                <a:solidFill>
                  <a:srgbClr val="FFFFFF"/>
                </a:solidFill>
              </a:rPr>
              <a:t>head</a:t>
            </a:r>
            <a:r>
              <a:rPr lang="en-US" sz="1600" b="1" dirty="0">
                <a:solidFill>
                  <a:srgbClr val="FFFFFF"/>
                </a:solidFill>
              </a:rPr>
              <a:t> </a:t>
            </a:r>
            <a:r>
              <a:rPr sz="1600" b="1" i="0" dirty="0">
                <a:solidFill>
                  <a:srgbClr val="FFFFFF"/>
                </a:solidFill>
              </a:rPr>
              <a:t>(trained)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200" b="1" i="0" dirty="0">
              <a:solidFill>
                <a:srgbClr val="FFFFF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Maps the 768-d document vector to one scalar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y = w*d + 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FFFFF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Smallest possible head to prevent overfitting on small data                                                                                                       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Trained jointly with the attention layer by gradient descent on MSE loss 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08503647-23B7-7FFA-2BB6-AB44BDD789E0}"/>
              </a:ext>
            </a:extLst>
          </p:cNvPr>
          <p:cNvSpPr/>
          <p:nvPr/>
        </p:nvSpPr>
        <p:spPr>
          <a:xfrm rot="5400000">
            <a:off x="8194788" y="3806339"/>
            <a:ext cx="235440" cy="669596"/>
          </a:xfrm>
          <a:prstGeom prst="down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5D2CEEE-3674-1AA9-6893-AC7C245037A0}"/>
              </a:ext>
            </a:extLst>
          </p:cNvPr>
          <p:cNvSpPr/>
          <p:nvPr/>
        </p:nvSpPr>
        <p:spPr>
          <a:xfrm>
            <a:off x="365760" y="3750113"/>
            <a:ext cx="1097280" cy="68926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predicted</a:t>
            </a:r>
          </a:p>
          <a:p>
            <a:pPr algn="ctr"/>
            <a:r>
              <a:rPr sz="1200" b="1" i="0" dirty="0">
                <a:solidFill>
                  <a:srgbClr val="FFFFFF"/>
                </a:solidFill>
              </a:rPr>
              <a:t>10-day</a:t>
            </a:r>
          </a:p>
          <a:p>
            <a:pPr algn="ctr"/>
            <a:r>
              <a:rPr sz="1200" b="1" i="0" dirty="0">
                <a:solidFill>
                  <a:srgbClr val="FFFFFF"/>
                </a:solidFill>
              </a:rPr>
              <a:t>VIX change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E42BCAD-C2DD-8C34-B4A5-A0F0290A1370}"/>
              </a:ext>
            </a:extLst>
          </p:cNvPr>
          <p:cNvSpPr/>
          <p:nvPr/>
        </p:nvSpPr>
        <p:spPr>
          <a:xfrm>
            <a:off x="5863893" y="3124166"/>
            <a:ext cx="274320" cy="2194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endParaRPr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4AF449-5021-E7CE-82C3-36022C9143ED}"/>
              </a:ext>
            </a:extLst>
          </p:cNvPr>
          <p:cNvSpPr txBox="1"/>
          <p:nvPr/>
        </p:nvSpPr>
        <p:spPr>
          <a:xfrm>
            <a:off x="6225902" y="3119400"/>
            <a:ext cx="1828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frozen (no gradients)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596C5BE-4C4B-FC5A-0ADD-3529A09C49BE}"/>
              </a:ext>
            </a:extLst>
          </p:cNvPr>
          <p:cNvSpPr/>
          <p:nvPr/>
        </p:nvSpPr>
        <p:spPr>
          <a:xfrm>
            <a:off x="9511184" y="5660496"/>
            <a:ext cx="274320" cy="2194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endParaRPr sz="12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307A22-DAF1-D83D-50D9-481D1A4B3234}"/>
              </a:ext>
            </a:extLst>
          </p:cNvPr>
          <p:cNvSpPr txBox="1"/>
          <p:nvPr/>
        </p:nvSpPr>
        <p:spPr>
          <a:xfrm>
            <a:off x="9785504" y="5631725"/>
            <a:ext cx="21031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</a:rPr>
              <a:t>trained (about 100k params)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A16D1B2-3AA6-E682-1F0A-4BDAE0348A49}"/>
              </a:ext>
            </a:extLst>
          </p:cNvPr>
          <p:cNvGrpSpPr/>
          <p:nvPr/>
        </p:nvGrpSpPr>
        <p:grpSpPr>
          <a:xfrm>
            <a:off x="8814691" y="1370602"/>
            <a:ext cx="2852706" cy="1786385"/>
            <a:chOff x="8921026" y="1623821"/>
            <a:chExt cx="2423159" cy="1786385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75A9BE5-9D9A-F3A9-CC17-FBC621E7BEAB}"/>
                </a:ext>
              </a:extLst>
            </p:cNvPr>
            <p:cNvSpPr/>
            <p:nvPr/>
          </p:nvSpPr>
          <p:spPr>
            <a:xfrm>
              <a:off x="8921026" y="1623821"/>
              <a:ext cx="2377440" cy="1786385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4E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endParaRPr sz="12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B12696-81C0-D778-BFA2-7BAD9149D98F}"/>
                </a:ext>
              </a:extLst>
            </p:cNvPr>
            <p:cNvSpPr txBox="1"/>
            <p:nvPr/>
          </p:nvSpPr>
          <p:spPr>
            <a:xfrm>
              <a:off x="8966745" y="1760470"/>
              <a:ext cx="2377440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 i="0" dirty="0">
                  <a:solidFill>
                    <a:srgbClr val="1F4E79"/>
                  </a:solidFill>
                </a:rPr>
                <a:t>768-d sentence embeddings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6D66D9B-920A-A971-EF3F-A6A3F987F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018" r="24480" b="29830"/>
            <a:stretch>
              <a:fillRect/>
            </a:stretch>
          </p:blipFill>
          <p:spPr>
            <a:xfrm>
              <a:off x="9012466" y="2107252"/>
              <a:ext cx="2211837" cy="1105361"/>
            </a:xfrm>
            <a:prstGeom prst="rect">
              <a:avLst/>
            </a:prstGeom>
          </p:spPr>
        </p:pic>
      </p:grpSp>
      <p:sp>
        <p:nvSpPr>
          <p:cNvPr id="30" name="Right Arrow 29">
            <a:extLst>
              <a:ext uri="{FF2B5EF4-FFF2-40B4-BE49-F238E27FC236}">
                <a16:creationId xmlns:a16="http://schemas.microsoft.com/office/drawing/2014/main" id="{C37B4067-D145-75A9-AFD6-E379A316A99B}"/>
              </a:ext>
            </a:extLst>
          </p:cNvPr>
          <p:cNvSpPr/>
          <p:nvPr/>
        </p:nvSpPr>
        <p:spPr>
          <a:xfrm rot="10800000">
            <a:off x="1476249" y="4023417"/>
            <a:ext cx="688533" cy="219425"/>
          </a:xfrm>
          <a:prstGeom prst="rightArrow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B6E0641-1B64-43B9-7F51-4D707ED2A840}"/>
              </a:ext>
            </a:extLst>
          </p:cNvPr>
          <p:cNvSpPr/>
          <p:nvPr/>
        </p:nvSpPr>
        <p:spPr>
          <a:xfrm>
            <a:off x="4642073" y="5659443"/>
            <a:ext cx="4107895" cy="962639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lang="en-US" sz="1600" b="1" i="0" dirty="0">
                <a:solidFill>
                  <a:srgbClr val="FFFFFF"/>
                </a:solidFill>
              </a:rPr>
              <a:t>TF-IDF + Ridge baseline (for comparison)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Bag-of-words features, no deep learning                                                                                                                          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Same temporal splits as the model                                                                                                                                    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Fixed alpha = 1.0, no inner cross-validation </a:t>
            </a:r>
            <a:endParaRPr sz="1200" i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89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8E4F-AFCE-8BC7-B8E2-BC386E6B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9" name="Picture 8" descr="regression_pearson_only.png">
            <a:extLst>
              <a:ext uri="{FF2B5EF4-FFF2-40B4-BE49-F238E27FC236}">
                <a16:creationId xmlns:a16="http://schemas.microsoft.com/office/drawing/2014/main" id="{BB20CB62-EF7A-9CD0-C7CD-29C31D9C3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295" y="1237958"/>
            <a:ext cx="6913345" cy="40103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E38654-007C-7D0C-BA79-9A604CF70234}"/>
              </a:ext>
            </a:extLst>
          </p:cNvPr>
          <p:cNvSpPr txBox="1"/>
          <p:nvPr/>
        </p:nvSpPr>
        <p:spPr>
          <a:xfrm>
            <a:off x="838200" y="1609645"/>
            <a:ext cx="429650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Evaluation Metric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Pearson r and p-value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Predicted-vs-actual correlation (r) and probability it's just noise (p)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Validation set: r = +0.34, p = 0.045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Model holds up across three later eras it never saw in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Beats TF-IDF Ridge baseline in regime 2 (Biden) and regime 3 (Trump 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Regime 3 shows strongest signal: model r = +0.33 vs baseline r = -0.01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7AF2A2-FD22-4888-C66C-FE971FB16B23}"/>
              </a:ext>
            </a:extLst>
          </p:cNvPr>
          <p:cNvSpPr txBox="1"/>
          <p:nvPr/>
        </p:nvSpPr>
        <p:spPr>
          <a:xfrm>
            <a:off x="5624733" y="5477212"/>
            <a:ext cx="63539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Caveat: regime 3 has only n = 13 documents, whereas 1 and 2 have 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Wider confidence interval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regime 3's strong score could partly be noise from the small sample</a:t>
            </a:r>
          </a:p>
        </p:txBody>
      </p:sp>
    </p:spTree>
    <p:extLst>
      <p:ext uri="{BB962C8B-B14F-4D97-AF65-F5344CB8AC3E}">
        <p14:creationId xmlns:p14="http://schemas.microsoft.com/office/powerpoint/2010/main" val="227589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AF35-5AC6-808D-851F-C28CC35E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104D4-1734-FD7B-C2BE-CCE559AEF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worked</a:t>
            </a:r>
          </a:p>
          <a:p>
            <a:pPr lvl="1"/>
            <a:r>
              <a:rPr lang="en-US" dirty="0"/>
              <a:t>Biggest finding: target horizon mattered more than the architecture.                                                                                                 </a:t>
            </a:r>
          </a:p>
          <a:p>
            <a:pPr lvl="1"/>
            <a:r>
              <a:rPr lang="en-US" dirty="0"/>
              <a:t>Switching from 3-day to 10-day moved the result from null to statistically significant</a:t>
            </a:r>
          </a:p>
          <a:p>
            <a:pPr lvl="1"/>
            <a:r>
              <a:rPr lang="en-US" dirty="0"/>
              <a:t>Using frozen </a:t>
            </a:r>
            <a:r>
              <a:rPr lang="en-US" dirty="0" err="1"/>
              <a:t>FinBERT</a:t>
            </a:r>
            <a:r>
              <a:rPr lang="en-US" dirty="0"/>
              <a:t> for pretrained financial embeddings on small data</a:t>
            </a:r>
          </a:p>
          <a:p>
            <a:pPr lvl="1"/>
            <a:r>
              <a:rPr lang="en-US" dirty="0"/>
              <a:t>Attention pooling gave interpretable weights</a:t>
            </a:r>
          </a:p>
          <a:p>
            <a:r>
              <a:rPr lang="en-US" dirty="0"/>
              <a:t>Anything you would do differently</a:t>
            </a:r>
          </a:p>
          <a:p>
            <a:pPr lvl="1"/>
            <a:r>
              <a:rPr lang="en-US" dirty="0"/>
              <a:t>FOMC statements (same-day release) instead of minutes (3-week delay)</a:t>
            </a:r>
          </a:p>
          <a:p>
            <a:pPr lvl="1"/>
            <a:r>
              <a:rPr lang="en-US" dirty="0"/>
              <a:t>Intraday VIX target to capture the immediate market reaction</a:t>
            </a:r>
          </a:p>
          <a:p>
            <a:pPr lvl="1"/>
            <a:r>
              <a:rPr lang="en-US" dirty="0"/>
              <a:t>More data, especially to firm up the recent regimes</a:t>
            </a:r>
          </a:p>
        </p:txBody>
      </p:sp>
    </p:spTree>
    <p:extLst>
      <p:ext uri="{BB962C8B-B14F-4D97-AF65-F5344CB8AC3E}">
        <p14:creationId xmlns:p14="http://schemas.microsoft.com/office/powerpoint/2010/main" val="1038877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1422</TotalTime>
  <Words>743</Words>
  <Application>Microsoft Macintosh PowerPoint</Application>
  <PresentationFormat>Widescreen</PresentationFormat>
  <Paragraphs>121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Forecasting Market Volatility (VIX) with Federal Reserve Language  Zoe Tomlinson     |     DSCI 410</vt:lpstr>
      <vt:lpstr>Introduction</vt:lpstr>
      <vt:lpstr>Dataset: 326 Fed documents (1993-2026)</vt:lpstr>
      <vt:lpstr>FinBERT + Sentence Attention + Linear Head</vt:lpstr>
      <vt:lpstr>Results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Zoe Tomlinson</cp:lastModifiedBy>
  <cp:revision>82</cp:revision>
  <dcterms:created xsi:type="dcterms:W3CDTF">2025-03-10T17:03:02Z</dcterms:created>
  <dcterms:modified xsi:type="dcterms:W3CDTF">2026-06-08T21:57:17Z</dcterms:modified>
</cp:coreProperties>
</file>