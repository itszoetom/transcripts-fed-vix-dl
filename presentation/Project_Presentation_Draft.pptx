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2694EA-6434-A588-248F-2F8DC73BC054}" v="385" dt="2025-03-10T17:17:03.7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270" autoAdjust="0"/>
    <p:restoredTop sz="94660"/>
  </p:normalViewPr>
  <p:slideViewPr>
    <p:cSldViewPr snapToGrid="0">
      <p:cViewPr>
        <p:scale>
          <a:sx n="58" d="100"/>
          <a:sy n="58" d="100"/>
        </p:scale>
        <p:origin x="-144" y="1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sz="4400" b="1"/>
              <a:t>Forecasting VIX with Federal Reserve Language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22875"/>
            <a:ext cx="9144000" cy="512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sz="2200"/>
              <a:t>Zoe Tomlinson  -  DSCI 410/510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407D5-9B13-36A3-EEE6-3DEDB50C0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78283-12D9-0C06-71F6-47D022BBE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/>
            <a:r>
              <a:rPr sz="1800"/>
              <a:t>Project: a deep-learning model that reads Federal Reserve text and predicts the 10-day forward change in the VIX.</a:t>
            </a:r>
          </a:p>
          <a:p>
            <a:pPr/>
            <a:r>
              <a:rPr sz="1800"/>
              <a:t>Why I am interested: how politics and policy affect financial markets.</a:t>
            </a:r>
          </a:p>
          <a:p>
            <a:pPr/>
            <a:r>
              <a:rPr sz="1800"/>
              <a:t>The Federal Reserve (Fed)</a:t>
            </a:r>
          </a:p>
          <a:p>
            <a:pPr lvl="1"/>
            <a:r>
              <a:rPr sz="1400"/>
              <a:t>U.S. central bank; sets interest rates and is the single largest source of monetary-policy signal.</a:t>
            </a:r>
          </a:p>
          <a:p>
            <a:pPr lvl="1"/>
            <a:r>
              <a:rPr sz="1400"/>
              <a:t>Formally independent, but the Chair is presidentially appointed.</a:t>
            </a:r>
          </a:p>
          <a:p>
            <a:pPr lvl="1"/>
            <a:r>
              <a:rPr sz="1400"/>
              <a:t>Different presidents have very different relationships with the Fed (e.g., Trump publicly pressured, Biden hands-off).</a:t>
            </a:r>
          </a:p>
          <a:p>
            <a:pPr/>
            <a:r>
              <a:rPr sz="1800"/>
              <a:t>The VIX ("investor fear gauge", Whaley 2000)</a:t>
            </a:r>
          </a:p>
          <a:p>
            <a:pPr lvl="1"/>
            <a:r>
              <a:rPr sz="1400"/>
              <a:t>S&amp;P 500's 30-day implied volatility; moves when traders update what they expect for future volatility.</a:t>
            </a:r>
          </a:p>
          <a:p>
            <a:pPr/>
            <a:r>
              <a:rPr sz="1800"/>
              <a:t>Hypothesis: when Fed text is surprising or hawkish, expected volatility should move.</a:t>
            </a:r>
          </a:p>
          <a:p>
            <a:pPr/>
            <a:r>
              <a:rPr sz="1400"/>
              <a:t>Why deep learning: not much numerical data per release; signal lives in the language. Prior work (Hansen, McMahon &amp; Prat 2018; Lucca &amp; Trebbi 2009) shows Fed text moves Treasury yields and equities.</a:t>
            </a:r>
          </a:p>
        </p:txBody>
      </p:sp>
    </p:spTree>
    <p:extLst>
      <p:ext uri="{BB962C8B-B14F-4D97-AF65-F5344CB8AC3E}">
        <p14:creationId xmlns:p14="http://schemas.microsoft.com/office/powerpoint/2010/main" val="4225015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D4987-295E-943F-EC06-72ABB538D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Dataset: 326 Fed documents (1993 to 2026)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2E294-81FF-BFFD-F79A-EF8F11C40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508760"/>
            <a:ext cx="5120640" cy="3337560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/>
            <a:r>
              <a:rPr sz="1600"/>
              <a:t>Sources (federalreserve.gov)</a:t>
            </a:r>
          </a:p>
          <a:p>
            <a:pPr lvl="1"/>
            <a:r>
              <a:rPr sz="1300"/>
              <a:t>FOMC minutes (268): released ~3 weeks after each meeting.</a:t>
            </a:r>
          </a:p>
          <a:p>
            <a:pPr lvl="1"/>
            <a:r>
              <a:rPr sz="1300"/>
              <a:t>Humphrey-Hawkins testimony (58): Fed Chair to Congress, twice-yearly.</a:t>
            </a:r>
          </a:p>
          <a:p>
            <a:pPr/>
            <a:r>
              <a:rPr sz="1600"/>
              <a:t>Each document</a:t>
            </a:r>
          </a:p>
          <a:p>
            <a:pPr lvl="1"/>
            <a:r>
              <a:rPr sz="1300"/>
              <a:t>5,000 to 10,000 words; capped to first 80 sentences (Punkt segmenter).</a:t>
            </a:r>
          </a:p>
          <a:p>
            <a:pPr lvl="1"/>
            <a:r>
              <a:rPr sz="1300"/>
              <a:t>Opening sections carry the policy rationale (Hansen et al. 2018).</a:t>
            </a:r>
          </a:p>
          <a:p>
            <a:pPr/>
            <a:r>
              <a:rPr sz="1600"/>
              <a:t>Target</a:t>
            </a:r>
          </a:p>
          <a:p>
            <a:pPr lvl="1"/>
            <a:r>
              <a:rPr sz="1300"/>
              <a:t>10-day forward change in CBOE VIX (FRED VIXCLS).</a:t>
            </a:r>
          </a:p>
          <a:p>
            <a:pPr lvl="1"/>
            <a:r>
              <a:rPr sz="1300"/>
              <a:t>Aligned to next trading day -&gt; no look-ahead leakage.</a:t>
            </a:r>
          </a:p>
          <a:p>
            <a:pPr/>
            <a:r>
              <a:rPr sz="1600"/>
              <a:t>Splits: strictly temporal, anchored to U.S. inauguration days.</a:t>
            </a:r>
          </a:p>
          <a:p>
            <a:pPr lvl="1"/>
            <a:r>
              <a:rPr sz="1300"/>
              <a:t>Test on three later eras -&gt; temporal generalization.</a:t>
            </a:r>
          </a:p>
          <a:p>
            <a:pPr/>
            <a:r>
              <a:rPr sz="1300"/>
              <a:t>Limitation: 326 docs is small. FOMC statements + intraday VIX would carry more signal but were out of scope.</a:t>
            </a:r>
          </a:p>
        </p:txBody>
      </p:sp>
      <p:pic>
        <p:nvPicPr>
          <p:cNvPr id="4" name="Picture 3" descr="preprocessed_snip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508760"/>
            <a:ext cx="6217920" cy="39453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498348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</a:rPr>
              <a:t>Train on pre-2017 data; test on three later eras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5650992"/>
            <a:ext cx="594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1">
                <a:solidFill>
                  <a:srgbClr val="1A1A1A"/>
                </a:solidFill>
              </a:rPr>
              <a:t>splits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6080760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1">
                <a:solidFill>
                  <a:srgbClr val="1A1A1A"/>
                </a:solidFill>
              </a:rPr>
              <a:t>President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6400800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1">
                <a:solidFill>
                  <a:srgbClr val="1A1A1A"/>
                </a:solidFill>
              </a:rPr>
              <a:t>Fed Chair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5650992"/>
            <a:ext cx="6591868" cy="384048"/>
          </a:xfrm>
          <a:prstGeom prst="roundRect">
            <a:avLst/>
          </a:prstGeom>
          <a:solidFill>
            <a:srgbClr val="A7C7E7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TRAIN  (1993-2014)  -  233 docs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72028" y="5650992"/>
            <a:ext cx="958646" cy="384048"/>
          </a:xfrm>
          <a:prstGeom prst="roundRect">
            <a:avLst/>
          </a:prstGeom>
          <a:solidFill>
            <a:srgbClr val="FFD27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 i="0">
                <a:solidFill>
                  <a:srgbClr val="1A1A1A"/>
                </a:solidFill>
              </a:rPr>
              <a:t>VAL</a:t>
            </a:r>
          </a:p>
          <a:p>
            <a:pPr algn="ctr"/>
            <a:r>
              <a:rPr sz="900" b="1" i="0">
                <a:solidFill>
                  <a:srgbClr val="1A1A1A"/>
                </a:solidFill>
              </a:rPr>
              <a:t>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30674" y="5650992"/>
            <a:ext cx="1255594" cy="384048"/>
          </a:xfrm>
          <a:prstGeom prst="roundRect">
            <a:avLst/>
          </a:prstGeom>
          <a:solidFill>
            <a:srgbClr val="E89090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>
                <a:solidFill>
                  <a:srgbClr val="1A1A1A"/>
                </a:solidFill>
              </a:rPr>
              <a:t>TEST R1</a:t>
            </a:r>
          </a:p>
          <a:p>
            <a:pPr algn="ctr"/>
            <a:r>
              <a:rPr sz="1000" b="1" i="0">
                <a:solidFill>
                  <a:srgbClr val="1A1A1A"/>
                </a:solidFill>
              </a:rPr>
              <a:t>40 docs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86268" y="5650992"/>
            <a:ext cx="1255594" cy="384048"/>
          </a:xfrm>
          <a:prstGeom prst="roundRect">
            <a:avLst/>
          </a:prstGeom>
          <a:solidFill>
            <a:srgbClr val="90C290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>
                <a:solidFill>
                  <a:srgbClr val="1A1A1A"/>
                </a:solidFill>
              </a:rPr>
              <a:t>TEST R2</a:t>
            </a:r>
          </a:p>
          <a:p>
            <a:pPr algn="ctr"/>
            <a:r>
              <a:rPr sz="1000" b="1" i="0">
                <a:solidFill>
                  <a:srgbClr val="1A1A1A"/>
                </a:solidFill>
              </a:rPr>
              <a:t>40 docs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341862" y="5650992"/>
            <a:ext cx="453897" cy="384048"/>
          </a:xfrm>
          <a:prstGeom prst="roundRect">
            <a:avLst/>
          </a:prstGeom>
          <a:solidFill>
            <a:srgbClr val="C89BC8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 i="0">
                <a:solidFill>
                  <a:srgbClr val="1A1A1A"/>
                </a:solidFill>
              </a:rPr>
              <a:t>R3</a:t>
            </a:r>
          </a:p>
          <a:p>
            <a:pPr algn="ctr"/>
            <a:r>
              <a:rPr sz="900" b="1" i="0">
                <a:solidFill>
                  <a:srgbClr val="1A1A1A"/>
                </a:solidFill>
              </a:rPr>
              <a:t>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6080760"/>
            <a:ext cx="2528138" cy="2743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Clinton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08298" y="6080760"/>
            <a:ext cx="2511188" cy="2743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G. W. Bush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19486" y="6080760"/>
            <a:ext cx="2511188" cy="2743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Obama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0674" y="6080760"/>
            <a:ext cx="1255594" cy="2743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Trump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86268" y="6080760"/>
            <a:ext cx="1255594" cy="2743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Biden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341862" y="6080760"/>
            <a:ext cx="453897" cy="2743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Trump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6400800"/>
            <a:ext cx="4099514" cy="274320"/>
          </a:xfrm>
          <a:prstGeom prst="roundRect">
            <a:avLst/>
          </a:prstGeom>
          <a:solidFill>
            <a:srgbClr val="F2F2F2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0" i="0">
                <a:solidFill>
                  <a:srgbClr val="1A1A1A"/>
                </a:solidFill>
              </a:rPr>
              <a:t>Greenspan (1987-2006)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79674" y="6400800"/>
            <a:ext cx="2514327" cy="274320"/>
          </a:xfrm>
          <a:prstGeom prst="roundRect">
            <a:avLst/>
          </a:prstGeom>
          <a:solidFill>
            <a:srgbClr val="F2F2F2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0" i="0">
                <a:solidFill>
                  <a:srgbClr val="1A1A1A"/>
                </a:solidFill>
              </a:rPr>
              <a:t>Bernanke (2006-2014)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94001" y="6400800"/>
            <a:ext cx="1265010" cy="274320"/>
          </a:xfrm>
          <a:prstGeom prst="roundRect">
            <a:avLst/>
          </a:prstGeom>
          <a:solidFill>
            <a:srgbClr val="F2F2F2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0" i="0">
                <a:solidFill>
                  <a:srgbClr val="1A1A1A"/>
                </a:solidFill>
              </a:rPr>
              <a:t>Yellen (2014-2018)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59012" y="6400800"/>
            <a:ext cx="2636747" cy="274320"/>
          </a:xfrm>
          <a:prstGeom prst="roundRect">
            <a:avLst/>
          </a:prstGeom>
          <a:solidFill>
            <a:srgbClr val="F2F2F2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0" i="0">
                <a:solidFill>
                  <a:srgbClr val="1A1A1A"/>
                </a:solidFill>
              </a:rPr>
              <a:t>Powell (2018-present)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30674" y="5605272"/>
            <a:ext cx="0" cy="1088135"/>
          </a:xfrm>
          <a:prstGeom prst="line">
            <a:avLst/>
          </a:prstGeom>
          <a:ln w="17780">
            <a:solidFill>
              <a:srgbClr val="1F4E7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82034" y="532180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i="0">
                <a:solidFill>
                  <a:srgbClr val="1F4E79"/>
                </a:solidFill>
              </a:rPr>
              <a:t>2017-01-20</a:t>
            </a:r>
          </a:p>
          <a:p>
            <a:pPr algn="ctr"/>
            <a:r>
              <a:rPr sz="800" b="1" i="0">
                <a:solidFill>
                  <a:srgbClr val="1F4E79"/>
                </a:solidFill>
              </a:rPr>
              <a:t>Trump 1 inaug.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086268" y="5605272"/>
            <a:ext cx="0" cy="1088135"/>
          </a:xfrm>
          <a:prstGeom prst="line">
            <a:avLst/>
          </a:prstGeom>
          <a:ln w="17780">
            <a:solidFill>
              <a:srgbClr val="1F4E7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537628" y="532180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i="0">
                <a:solidFill>
                  <a:srgbClr val="1F4E79"/>
                </a:solidFill>
              </a:rPr>
              <a:t>2021-01-20</a:t>
            </a:r>
          </a:p>
          <a:p>
            <a:pPr algn="ctr"/>
            <a:r>
              <a:rPr sz="800" b="1" i="0">
                <a:solidFill>
                  <a:srgbClr val="1F4E79"/>
                </a:solidFill>
              </a:rPr>
              <a:t>Biden inaug.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341862" y="5605272"/>
            <a:ext cx="0" cy="1088135"/>
          </a:xfrm>
          <a:prstGeom prst="line">
            <a:avLst/>
          </a:prstGeom>
          <a:ln w="17780">
            <a:solidFill>
              <a:srgbClr val="1F4E7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793222" y="532180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i="0">
                <a:solidFill>
                  <a:srgbClr val="1F4E79"/>
                </a:solidFill>
              </a:rPr>
              <a:t>2025-01-20</a:t>
            </a:r>
          </a:p>
          <a:p>
            <a:pPr algn="ctr"/>
            <a:r>
              <a:rPr sz="800" b="1" i="0">
                <a:solidFill>
                  <a:srgbClr val="1F4E79"/>
                </a:solidFill>
              </a:rPr>
              <a:t>Trump 2 inaug.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67025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</a:rPr>
              <a:t>1993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2748" y="67025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</a:rPr>
              <a:t>2001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73936" y="67025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</a:rPr>
              <a:t>2009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85124" y="67025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</a:rPr>
              <a:t>2017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0718" y="67025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</a:rPr>
              <a:t>2021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6312" y="67025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2441674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3FD49-9CA4-549B-3861-0C943CE4D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sz="2200" b="1"/>
              <a:t>Model: frozen FinBERT + sentence attention + linear head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14C9F-2B0A-3BDE-E080-36C7141D9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4937760"/>
            <a:ext cx="11521440" cy="1828800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/>
            <a:r>
              <a:rPr sz="1000"/>
              <a:t>FinBERT (frozen) | what: BERT pretrained on 4.9B financial tokens (Yang, Uy &amp; Huang 2020). | why: better Fed embeddings than generic BERT. | how: kept frozen (Peters et al. 2019); too few docs to fine-tune 110M params.</a:t>
            </a:r>
          </a:p>
          <a:p>
            <a:pPr/>
            <a:r>
              <a:rPr sz="1000"/>
              <a:t>Additive sentence attention (trained) | what: weighted sum over 80 sentence embeddings (Yang et al. 2016, HAN). | why: documents are not uniform; lets the model focus on policy-rationale sentences. | how: a small MLP scores each sentence; softmax gives weights; weighted sum is the doc vector.</a:t>
            </a:r>
          </a:p>
          <a:p>
            <a:pPr/>
            <a:r>
              <a:rPr sz="1000"/>
              <a:t>Linear regression head (trained) | what: y = w*d + b on the 768-d doc vector. | why: smallest possible head, prevents overfitting on 233 docs. | how: trained jointly with attention by gradient descent on MSE loss.</a:t>
            </a:r>
          </a:p>
          <a:p>
            <a:pPr/>
            <a:r>
              <a:rPr sz="1000"/>
              <a:t>TF-IDF + Ridge baseline | what: bag-of-words, no deep learning. | why: honest comparison. | how: same temporal splits, fixed alpha = 1.0, no inner CV.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1170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</a:rPr>
              <a:t>Pipeline:  text  -&gt;  embeddings  -&gt;  attention  -&gt; 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83080"/>
            <a:ext cx="1828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ctr"/>
            <a:r>
              <a:rPr sz="1000" b="1">
                <a:solidFill>
                  <a:srgbClr val="1F4E79"/>
                </a:solidFill>
              </a:rPr>
              <a:t>Document (80 sentences)</a:t>
            </a:r>
          </a:p>
          <a:p/>
          <a:p>
            <a:pPr algn="l"/>
            <a:r>
              <a:rPr sz="700">
                <a:solidFill>
                  <a:srgbClr val="1A1A1A"/>
                </a:solidFill>
              </a:rPr>
              <a:t>[1] Minutes of the FOMC Meeting ...</a:t>
            </a:r>
          </a:p>
          <a:p>
            <a:pPr algn="l"/>
            <a:r>
              <a:rPr sz="700">
                <a:solidFill>
                  <a:srgbClr val="1A1A1A"/>
                </a:solidFill>
              </a:rPr>
              <a:t>[2] The performance of the U.S. economy has been quite favorable.</a:t>
            </a:r>
          </a:p>
          <a:p>
            <a:pPr algn="l"/>
            <a:r>
              <a:rPr sz="700">
                <a:solidFill>
                  <a:srgbClr val="1A1A1A"/>
                </a:solidFill>
              </a:rPr>
              <a:t>[3] Real GDP growth picked up to more than three percent ...</a:t>
            </a:r>
          </a:p>
          <a:p>
            <a:pPr algn="l"/>
            <a:r>
              <a:rPr sz="700">
                <a:solidFill>
                  <a:srgbClr val="1A1A1A"/>
                </a:solidFill>
              </a:rPr>
              <a:t>[4] Employers added more than two-and-a-half million workers ...</a:t>
            </a:r>
          </a:p>
          <a:p>
            <a:pPr algn="l"/>
            <a:r>
              <a:rPr sz="700">
                <a:solidFill>
                  <a:srgbClr val="1A1A1A"/>
                </a:solidFill>
              </a:rPr>
              <a:t>[5] (... 75 more sentences)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12848" y="2628900"/>
            <a:ext cx="274320" cy="411480"/>
          </a:xfrm>
          <a:prstGeom prst="rightArrow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23744" y="1783080"/>
            <a:ext cx="1188720" cy="210312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>
                <a:solidFill>
                  <a:srgbClr val="1A1A1A"/>
                </a:solidFill>
              </a:rPr>
              <a:t>FinBERT</a:t>
            </a:r>
          </a:p>
          <a:p>
            <a:pPr algn="ctr"/>
            <a:r>
              <a:rPr sz="1000" b="1" i="0">
                <a:solidFill>
                  <a:srgbClr val="1A1A1A"/>
                </a:solidFill>
              </a:rPr>
              <a:t>(frozen)</a:t>
            </a:r>
          </a:p>
          <a:p>
            <a:pPr algn="ctr"/>
          </a:p>
          <a:p>
            <a:pPr algn="ctr"/>
            <a:r>
              <a:rPr sz="1000" b="1" i="0">
                <a:solidFill>
                  <a:srgbClr val="1A1A1A"/>
                </a:solidFill>
              </a:rPr>
              <a:t>110M params</a:t>
            </a:r>
          </a:p>
          <a:p>
            <a:pPr algn="ctr"/>
          </a:p>
          <a:p>
            <a:pPr algn="ctr"/>
            <a:r>
              <a:rPr sz="1000" b="1" i="0">
                <a:solidFill>
                  <a:srgbClr val="1A1A1A"/>
                </a:solidFill>
              </a:rPr>
              <a:t>domain-pretrained</a:t>
            </a:r>
          </a:p>
          <a:p>
            <a:pPr algn="ctr"/>
            <a:r>
              <a:rPr sz="1000" b="1" i="0">
                <a:solidFill>
                  <a:srgbClr val="1A1A1A"/>
                </a:solidFill>
              </a:rPr>
              <a:t>on financial text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30751" y="2628900"/>
            <a:ext cx="274320" cy="411480"/>
          </a:xfrm>
          <a:prstGeom prst="rightArrow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41647" y="1783080"/>
            <a:ext cx="23774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87367" y="182880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1F4E79"/>
                </a:solidFill>
              </a:rPr>
              <a:t>768-d sentence embeddings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3087" y="2130552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Sentence A  (1997: "favorable")</a:t>
            </a:r>
          </a:p>
        </p:txBody>
      </p:sp>
      <p:pic>
        <p:nvPicPr>
          <p:cNvPr id="12" name="Picture 11" descr="_emb_strip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087" y="2313432"/>
            <a:ext cx="2194560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33087" y="2679191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Sentence B  (2004: "inflation")</a:t>
            </a:r>
          </a:p>
        </p:txBody>
      </p:sp>
      <p:pic>
        <p:nvPicPr>
          <p:cNvPr id="14" name="Picture 13" descr="_emb_strip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7" y="2862072"/>
            <a:ext cx="2194560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133087" y="3200400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1">
                <a:solidFill>
                  <a:srgbClr val="1A1A1A"/>
                </a:solidFill>
              </a:rPr>
              <a:t>different sentences -&gt; different vectors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437375" y="2628900"/>
            <a:ext cx="274320" cy="411480"/>
          </a:xfrm>
          <a:prstGeom prst="rightArrow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48271" y="1783080"/>
            <a:ext cx="1280160" cy="2103120"/>
          </a:xfrm>
          <a:prstGeom prst="roundRect">
            <a:avLst/>
          </a:prstGeom>
          <a:solidFill>
            <a:srgbClr val="4C78A8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Additive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attention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(trained)</a:t>
            </a:r>
          </a:p>
          <a:p>
            <a:pPr algn="ctr"/>
          </a:p>
          <a:p>
            <a:pPr algn="ctr"/>
            <a:r>
              <a:rPr sz="1000" b="1" i="0">
                <a:solidFill>
                  <a:srgbClr val="FFFFFF"/>
                </a:solidFill>
              </a:rPr>
              <a:t>~99k params</a:t>
            </a:r>
          </a:p>
          <a:p>
            <a:pPr algn="ctr"/>
          </a:p>
          <a:p>
            <a:pPr algn="ctr"/>
            <a:r>
              <a:rPr sz="1000" b="1" i="0">
                <a:solidFill>
                  <a:srgbClr val="FFFFFF"/>
                </a:solidFill>
              </a:rPr>
              <a:t>learns one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weight per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sentence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046719" y="2628900"/>
            <a:ext cx="274320" cy="411480"/>
          </a:xfrm>
          <a:prstGeom prst="rightArrow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57616" y="1783080"/>
            <a:ext cx="21945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3336" y="182880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1F4E79"/>
                </a:solidFill>
              </a:rPr>
              <a:t>Attention weight per sentence</a:t>
            </a:r>
          </a:p>
        </p:txBody>
      </p:sp>
      <p:pic>
        <p:nvPicPr>
          <p:cNvPr id="21" name="Picture 20" descr="_attn_ba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768" y="2130552"/>
            <a:ext cx="2048255" cy="1645919"/>
          </a:xfrm>
          <a:prstGeom prst="rect">
            <a:avLst/>
          </a:prstGeom>
        </p:spPr>
      </p:pic>
      <p:sp>
        <p:nvSpPr>
          <p:cNvPr id="22" name="Right Arrow 21"/>
          <p:cNvSpPr/>
          <p:nvPr/>
        </p:nvSpPr>
        <p:spPr>
          <a:xfrm>
            <a:off x="10570464" y="2628900"/>
            <a:ext cx="274320" cy="411480"/>
          </a:xfrm>
          <a:prstGeom prst="rightArrow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881360" y="2057400"/>
            <a:ext cx="914400" cy="1156716"/>
          </a:xfrm>
          <a:prstGeom prst="roundRect">
            <a:avLst/>
          </a:prstGeom>
          <a:solidFill>
            <a:srgbClr val="4C78A8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Linear</a:t>
            </a:r>
          </a:p>
          <a:p>
            <a:pPr algn="ctr"/>
            <a:r>
              <a:rPr sz="900" b="1" i="0">
                <a:solidFill>
                  <a:srgbClr val="FFFFFF"/>
                </a:solidFill>
              </a:rPr>
              <a:t>head</a:t>
            </a:r>
          </a:p>
          <a:p>
            <a:pPr algn="ctr"/>
            <a:r>
              <a:rPr sz="900" b="1" i="0">
                <a:solidFill>
                  <a:srgbClr val="FFFFFF"/>
                </a:solidFill>
              </a:rPr>
              <a:t>(trained)</a:t>
            </a:r>
          </a:p>
          <a:p>
            <a:pPr algn="ctr"/>
          </a:p>
          <a:p>
            <a:pPr algn="ctr"/>
            <a:r>
              <a:rPr sz="900" b="1" i="0">
                <a:solidFill>
                  <a:srgbClr val="FFFFFF"/>
                </a:solidFill>
              </a:rPr>
              <a:t>y = w*d + b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1247120" y="3259835"/>
            <a:ext cx="182880" cy="365760"/>
          </a:xfrm>
          <a:prstGeom prst="downArrow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789920" y="3717035"/>
            <a:ext cx="1097280" cy="77723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predicted</a:t>
            </a:r>
          </a:p>
          <a:p>
            <a:pPr algn="ctr"/>
            <a:r>
              <a:rPr sz="900" b="1" i="0">
                <a:solidFill>
                  <a:srgbClr val="FFFFFF"/>
                </a:solidFill>
              </a:rPr>
              <a:t>10-day</a:t>
            </a:r>
          </a:p>
          <a:p>
            <a:pPr algn="ctr"/>
            <a:r>
              <a:rPr sz="900" b="1" i="0">
                <a:solidFill>
                  <a:srgbClr val="FFFFFF"/>
                </a:solidFill>
              </a:rPr>
              <a:t>VIX change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977639"/>
            <a:ext cx="274320" cy="219456"/>
          </a:xfrm>
          <a:prstGeom prst="roundRect">
            <a:avLst/>
          </a:prstGeom>
          <a:solidFill>
            <a:srgbClr val="D9D9D9"/>
          </a:solidFill>
          <a:ln w="762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977639"/>
            <a:ext cx="18288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frozen (no gradients)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06039" y="3977639"/>
            <a:ext cx="274320" cy="219456"/>
          </a:xfrm>
          <a:prstGeom prst="roundRect">
            <a:avLst/>
          </a:prstGeom>
          <a:solidFill>
            <a:srgbClr val="4C78A8"/>
          </a:solidFill>
          <a:ln w="762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79" y="3977639"/>
            <a:ext cx="21031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trained (about 100k params)</a:t>
            </a:r>
          </a:p>
        </p:txBody>
      </p:sp>
    </p:spTree>
    <p:extLst>
      <p:ext uri="{BB962C8B-B14F-4D97-AF65-F5344CB8AC3E}">
        <p14:creationId xmlns:p14="http://schemas.microsoft.com/office/powerpoint/2010/main" val="3443892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08E4F-AFCE-8BC7-B8E2-BC386E6B4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Results: Pearson r = 0.34 on validation (p = 0.045)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2661A-2793-3F4F-12A7-687F3FA62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508760"/>
            <a:ext cx="4937760" cy="5120640"/>
          </a:xfrm>
        </p:spPr>
        <p:txBody>
          <a:bodyPr vert="horz" lIns="91440" tIns="45720" rIns="91440" bIns="45720" rtlCol="0" anchor="t">
            <a:normAutofit/>
          </a:bodyPr>
          <a:lstStyle/>
          <a:p>
            <a:pPr/>
            <a:r>
              <a:rPr sz="1500"/>
              <a:t>Pearson r: correlation between predicted and actual VIX change.</a:t>
            </a:r>
          </a:p>
          <a:p>
            <a:pPr lvl="1"/>
            <a:r>
              <a:rPr sz="1200"/>
              <a:t>Range -1 to +1. Positive = predictions and reality move together.</a:t>
            </a:r>
          </a:p>
          <a:p>
            <a:pPr/>
            <a:r>
              <a:rPr sz="1500"/>
              <a:t>p-value: probability of a result this strong by chance if the model truly had zero relationship with the target.</a:t>
            </a:r>
          </a:p>
          <a:p>
            <a:pPr lvl="1"/>
            <a:r>
              <a:rPr sz="1200"/>
              <a:t>p &lt; 0.05 is the conventional 'unlikely to be chance' threshold.</a:t>
            </a:r>
          </a:p>
          <a:p>
            <a:pPr/>
            <a:r>
              <a:rPr sz="1500"/>
              <a:t>Validation set (n = 35): r = +0.34, p = 0.045. Statistically significant.</a:t>
            </a:r>
          </a:p>
          <a:p>
            <a:pPr/>
            <a:r>
              <a:rPr sz="1500"/>
              <a:t>Temporal generalization (figure, right)</a:t>
            </a:r>
          </a:p>
          <a:p>
            <a:pPr lvl="1"/>
            <a:r>
              <a:rPr sz="1200"/>
              <a:t>Model holds up across three later eras it never saw in training.</a:t>
            </a:r>
          </a:p>
          <a:p>
            <a:pPr lvl="1"/>
            <a:r>
              <a:rPr sz="1200"/>
              <a:t>Beats TF-IDF Ridge baseline in regime 2 (Biden) and regime 3 (Trump 2).</a:t>
            </a:r>
          </a:p>
          <a:p>
            <a:pPr lvl="1"/>
            <a:r>
              <a:rPr sz="1200"/>
              <a:t>Regime 3 shows strongest signal: model r = +0.33 vs baseline r = -0.01.</a:t>
            </a:r>
          </a:p>
          <a:p>
            <a:pPr/>
            <a:r>
              <a:rPr sz="1200"/>
              <a:t>Caveat: regime 3 has only n = 13 documents. Small n means a wide confidence interval, so the r = +0.33 could be far from the true value. Direction is interesting but not formally significant on its own (p = 0.27).</a:t>
            </a:r>
          </a:p>
          <a:p>
            <a:pPr/>
            <a:r>
              <a:rPr sz="1200"/>
              <a:t>Methodological note: initial 3-day target gave a null result (p = 0.38); extending to 10 days made the signal significant.</a:t>
            </a:r>
          </a:p>
        </p:txBody>
      </p:sp>
      <p:pic>
        <p:nvPicPr>
          <p:cNvPr id="4" name="Picture 3" descr="regression_pearson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508760"/>
            <a:ext cx="6446520" cy="373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896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6AF35-5AC6-808D-851F-C28CC35E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104D4-1734-FD7B-C2BE-CCE559AEF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/>
            <a:r>
              <a:rPr sz="1800"/>
              <a:t>What worked</a:t>
            </a:r>
          </a:p>
          <a:p>
            <a:pPr lvl="1"/>
            <a:r>
              <a:rPr sz="1400"/>
              <a:t>Frozen FinBERT + sentence attention + linear head. ~100k trained params.</a:t>
            </a:r>
          </a:p>
          <a:p>
            <a:pPr lvl="1"/>
            <a:r>
              <a:rPr sz="1400"/>
              <a:t>Statistically significant on held-out validation (r = 0.34, p = 0.045).</a:t>
            </a:r>
          </a:p>
          <a:p>
            <a:pPr lvl="1"/>
            <a:r>
              <a:rPr sz="1400"/>
              <a:t>Beat the TF-IDF baseline in 2 of 3 test regimes.</a:t>
            </a:r>
          </a:p>
          <a:p>
            <a:pPr/>
            <a:r>
              <a:rPr sz="1800"/>
              <a:t>Methodological finding: horizon matters more than architecture.</a:t>
            </a:r>
          </a:p>
          <a:p>
            <a:pPr lvl="1"/>
            <a:r>
              <a:rPr sz="1400"/>
              <a:t>3-day target was a null result. 10-day target was significant.</a:t>
            </a:r>
          </a:p>
          <a:p>
            <a:pPr/>
            <a:r>
              <a:rPr sz="1800"/>
              <a:t>On temporal generalization</a:t>
            </a:r>
          </a:p>
          <a:p>
            <a:pPr lvl="1"/>
            <a:r>
              <a:rPr sz="1400"/>
              <a:t>Relationship learned on 1993-2017 data still applies in 2017+ data.</a:t>
            </a:r>
          </a:p>
          <a:p>
            <a:pPr lvl="1"/>
            <a:r>
              <a:rPr sz="1400"/>
              <a:t>Strongest in the most recent regime (Trump 2), but n = 13 limits certainty.</a:t>
            </a:r>
          </a:p>
          <a:p>
            <a:pPr/>
            <a:r>
              <a:rPr sz="1800"/>
              <a:t>What I would do with more time</a:t>
            </a:r>
          </a:p>
          <a:p>
            <a:pPr lvl="1"/>
            <a:r>
              <a:rPr sz="1400"/>
              <a:t>FOMC statements (same-day release) instead of minutes (3-week delay).</a:t>
            </a:r>
          </a:p>
          <a:p>
            <a:pPr lvl="1"/>
            <a:r>
              <a:rPr sz="1400"/>
              <a:t>Intraday VIX target to capture the immediate market reaction.</a:t>
            </a:r>
          </a:p>
          <a:p>
            <a:pPr lvl="1"/>
            <a:r>
              <a:rPr sz="1400"/>
              <a:t>Larger corpus, especially to firm up the recent regimes.</a:t>
            </a:r>
          </a:p>
        </p:txBody>
      </p:sp>
    </p:spTree>
    <p:extLst>
      <p:ext uri="{BB962C8B-B14F-4D97-AF65-F5344CB8AC3E}">
        <p14:creationId xmlns:p14="http://schemas.microsoft.com/office/powerpoint/2010/main" val="1038877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</TotalTime>
  <Words>278</Words>
  <Application>Microsoft Macintosh PowerPoint</Application>
  <PresentationFormat>Widescreen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Courier New</vt:lpstr>
      <vt:lpstr>Wingdings</vt:lpstr>
      <vt:lpstr>office theme</vt:lpstr>
      <vt:lpstr>Predicting 10-day VIX Change from Federal Reserve Text using Frozen FinBERT with Learned Sentence Attention and a Linear Regression Head</vt:lpstr>
      <vt:lpstr>Introduction</vt:lpstr>
      <vt:lpstr>Dataset: 326 Fed documents (1993-2026)</vt:lpstr>
      <vt:lpstr>FinBERT + Sentence Attention + Linear Head</vt:lpstr>
      <vt:lpstr>Your Results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Zoe Tomlinson</cp:lastModifiedBy>
  <cp:revision>79</cp:revision>
  <dcterms:created xsi:type="dcterms:W3CDTF">2025-03-10T17:03:02Z</dcterms:created>
  <dcterms:modified xsi:type="dcterms:W3CDTF">2026-06-07T23:40:12Z</dcterms:modified>
</cp:coreProperties>
</file>