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119" y="2203530"/>
            <a:ext cx="10837762" cy="2450939"/>
          </a:xfrm>
        </p:spPr>
        <p:txBody>
          <a:bodyPr anchor="ctr">
            <a:normAutofit fontScale="90000"/>
          </a:bodyPr>
          <a:lstStyle/>
          <a:p>
            <a:r>
              <a:rPr lang="en-US" sz="6700" dirty="0"/>
              <a:t>Forecasting Market Volatility (VIX) with Federal Reserve Language</a:t>
            </a:r>
            <a:br>
              <a:rPr lang="en-US" dirty="0"/>
            </a:br>
            <a:br>
              <a:rPr lang="en-US" sz="2700" dirty="0"/>
            </a:br>
            <a:r>
              <a:rPr lang="en-US" sz="2700" dirty="0"/>
              <a:t>Zoe Tomlinson     |     DSCI 410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C337C-1B7F-59E2-3950-42C003A3800E}"/>
              </a:ext>
            </a:extLst>
          </p:cNvPr>
          <p:cNvSpPr txBox="1"/>
          <p:nvPr/>
        </p:nvSpPr>
        <p:spPr>
          <a:xfrm>
            <a:off x="838200" y="4591612"/>
            <a:ext cx="9642231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Personal Interest: </a:t>
            </a:r>
            <a:r>
              <a:rPr lang="en-US" sz="2000" dirty="0"/>
              <a:t>how politics affect the stock market?</a:t>
            </a:r>
          </a:p>
          <a:p>
            <a:pPr lvl="1">
              <a:spcAft>
                <a:spcPts val="500"/>
              </a:spcAft>
            </a:pPr>
            <a:r>
              <a:rPr lang="en-US" sz="2000" dirty="0"/>
              <a:t>Difference in the Trump vs Biden regimes?</a:t>
            </a:r>
          </a:p>
          <a:p>
            <a:pPr lvl="1">
              <a:spcAft>
                <a:spcPts val="200"/>
              </a:spcAft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Hypothesis: </a:t>
            </a:r>
            <a:r>
              <a:rPr lang="en-US" sz="2000" dirty="0"/>
              <a:t>when Fed text is surprising or hawkish, expected volatility moves</a:t>
            </a:r>
          </a:p>
          <a:p>
            <a:pPr marL="0" indent="0">
              <a:spcAft>
                <a:spcPts val="200"/>
              </a:spcAft>
              <a:buNone/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Prior work </a:t>
            </a:r>
            <a:r>
              <a:rPr lang="en-US" sz="2000" dirty="0"/>
              <a:t>shows Fed text moves Treasury yields and equities, limited research on VIX</a:t>
            </a:r>
          </a:p>
        </p:txBody>
      </p:sp>
      <p:pic>
        <p:nvPicPr>
          <p:cNvPr id="1026" name="Picture 2" descr="Federal Reserve set to cut rate but may signal a pause to come | The Blade">
            <a:extLst>
              <a:ext uri="{FF2B5EF4-FFF2-40B4-BE49-F238E27FC236}">
                <a16:creationId xmlns:a16="http://schemas.microsoft.com/office/drawing/2014/main" id="{78CB8181-29AE-577B-B743-E7B873C613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r="15090"/>
          <a:stretch>
            <a:fillRect/>
          </a:stretch>
        </p:blipFill>
        <p:spPr bwMode="auto">
          <a:xfrm>
            <a:off x="9140340" y="1027906"/>
            <a:ext cx="1619265" cy="160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X - Wikipedia">
            <a:extLst>
              <a:ext uri="{FF2B5EF4-FFF2-40B4-BE49-F238E27FC236}">
                <a16:creationId xmlns:a16="http://schemas.microsoft.com/office/drawing/2014/main" id="{1C1AAEDF-B38D-084C-7365-BDF6F2F4C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" b="2688"/>
          <a:stretch>
            <a:fillRect/>
          </a:stretch>
        </p:blipFill>
        <p:spPr bwMode="auto">
          <a:xfrm>
            <a:off x="7994470" y="2628559"/>
            <a:ext cx="3911006" cy="273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75F7F4-0127-DB29-246D-5E917F6D7CC8}"/>
              </a:ext>
            </a:extLst>
          </p:cNvPr>
          <p:cNvSpPr txBox="1"/>
          <p:nvPr/>
        </p:nvSpPr>
        <p:spPr>
          <a:xfrm>
            <a:off x="838200" y="1539009"/>
            <a:ext cx="804110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b="1" dirty="0"/>
              <a:t>Goal: </a:t>
            </a:r>
            <a:r>
              <a:rPr lang="en-US" sz="2000" dirty="0"/>
              <a:t>Train a DL model on Federal Reserve text to identify language patterns predictive of the 10-day forward change in the VIX</a:t>
            </a:r>
          </a:p>
          <a:p>
            <a:pPr>
              <a:spcAft>
                <a:spcPts val="500"/>
              </a:spcAft>
            </a:pPr>
            <a:endParaRPr lang="en-US" sz="100" dirty="0"/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Federal Reserve (Fed): </a:t>
            </a:r>
            <a:r>
              <a:rPr lang="en-US" sz="2000" dirty="0"/>
              <a:t>U.S. central bank 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Sets interest rates and monetary policy in financial markets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Independent of politics, but Chair is presidentially appointed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VIX: </a:t>
            </a:r>
            <a:r>
              <a:rPr lang="en-US" sz="2000" dirty="0"/>
              <a:t>S&amp;P 500’s 30-day implied volatility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widely known as the “fear gauge”</a:t>
            </a:r>
          </a:p>
        </p:txBody>
      </p:sp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326 Fed documents (1993-2026)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7250-5892-A2ED-A4BF-04AF6289B951}"/>
              </a:ext>
            </a:extLst>
          </p:cNvPr>
          <p:cNvSpPr txBox="1"/>
          <p:nvPr/>
        </p:nvSpPr>
        <p:spPr>
          <a:xfrm>
            <a:off x="7472641" y="3688534"/>
            <a:ext cx="441715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/>
              <a:t>Example Humphrey-Hawkins testimony 2004-07-20</a:t>
            </a:r>
          </a:p>
        </p:txBody>
      </p:sp>
      <p:pic>
        <p:nvPicPr>
          <p:cNvPr id="7" name="Picture 6" descr="preprocessed_snippet.png">
            <a:extLst>
              <a:ext uri="{FF2B5EF4-FFF2-40B4-BE49-F238E27FC236}">
                <a16:creationId xmlns:a16="http://schemas.microsoft.com/office/drawing/2014/main" id="{5522687C-3947-F85E-26CA-7F75E117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" t="20776" r="16674" b="17054"/>
          <a:stretch>
            <a:fillRect/>
          </a:stretch>
        </p:blipFill>
        <p:spPr>
          <a:xfrm>
            <a:off x="7474568" y="1578441"/>
            <a:ext cx="4413297" cy="2173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AF043-49DC-835B-CD0A-A030DEA3D5C2}"/>
              </a:ext>
            </a:extLst>
          </p:cNvPr>
          <p:cNvSpPr txBox="1"/>
          <p:nvPr/>
        </p:nvSpPr>
        <p:spPr>
          <a:xfrm>
            <a:off x="459222" y="4378120"/>
            <a:ext cx="409795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1F4E79"/>
                </a:solidFill>
              </a:rPr>
              <a:t>Train on pre-2017 data; test on three later eras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87A77-FAEC-CCD5-F02F-3E36DACA3F1C}"/>
              </a:ext>
            </a:extLst>
          </p:cNvPr>
          <p:cNvSpPr txBox="1"/>
          <p:nvPr/>
        </p:nvSpPr>
        <p:spPr>
          <a:xfrm>
            <a:off x="314020" y="4870361"/>
            <a:ext cx="5910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splits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E46C3-52A0-C0E6-152E-E8A4A0D1B8C9}"/>
              </a:ext>
            </a:extLst>
          </p:cNvPr>
          <p:cNvSpPr txBox="1"/>
          <p:nvPr/>
        </p:nvSpPr>
        <p:spPr>
          <a:xfrm>
            <a:off x="-75410" y="5319398"/>
            <a:ext cx="103756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President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1BB98-77C1-82E5-77EA-68C4101BFA91}"/>
              </a:ext>
            </a:extLst>
          </p:cNvPr>
          <p:cNvSpPr txBox="1"/>
          <p:nvPr/>
        </p:nvSpPr>
        <p:spPr>
          <a:xfrm>
            <a:off x="-117937" y="5714740"/>
            <a:ext cx="102304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Fed Chair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ACEED7A-EDD3-6E75-9A1E-FB615580AA94}"/>
              </a:ext>
            </a:extLst>
          </p:cNvPr>
          <p:cNvSpPr/>
          <p:nvPr/>
        </p:nvSpPr>
        <p:spPr>
          <a:xfrm>
            <a:off x="918940" y="4782573"/>
            <a:ext cx="6555549" cy="484748"/>
          </a:xfrm>
          <a:prstGeom prst="roundRect">
            <a:avLst/>
          </a:prstGeom>
          <a:solidFill>
            <a:srgbClr val="A7C7E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TRAIN  (1993-2014)  -  </a:t>
            </a:r>
            <a:r>
              <a:rPr lang="en-US" sz="1200" b="1" i="0" dirty="0">
                <a:solidFill>
                  <a:srgbClr val="1A1A1A"/>
                </a:solidFill>
              </a:rPr>
              <a:t>198</a:t>
            </a:r>
            <a:r>
              <a:rPr sz="1200" b="1" i="0" dirty="0">
                <a:solidFill>
                  <a:srgbClr val="1A1A1A"/>
                </a:solidFill>
              </a:rPr>
              <a:t> docs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2E1EAA-C4FD-20C0-198F-00AF8E1BAB18}"/>
              </a:ext>
            </a:extLst>
          </p:cNvPr>
          <p:cNvSpPr/>
          <p:nvPr/>
        </p:nvSpPr>
        <p:spPr>
          <a:xfrm>
            <a:off x="7472259" y="4766487"/>
            <a:ext cx="953364" cy="484748"/>
          </a:xfrm>
          <a:prstGeom prst="roundRect">
            <a:avLst/>
          </a:prstGeom>
          <a:solidFill>
            <a:srgbClr val="FFD27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VAL</a:t>
            </a:r>
          </a:p>
          <a:p>
            <a:pPr algn="ctr"/>
            <a:r>
              <a:rPr sz="1200" b="1" i="0" dirty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648A38-2C1D-F627-B062-5A8DB3F86191}"/>
              </a:ext>
            </a:extLst>
          </p:cNvPr>
          <p:cNvSpPr/>
          <p:nvPr/>
        </p:nvSpPr>
        <p:spPr>
          <a:xfrm>
            <a:off x="8432541" y="4766487"/>
            <a:ext cx="1248676" cy="484748"/>
          </a:xfrm>
          <a:prstGeom prst="roundRect">
            <a:avLst/>
          </a:prstGeom>
          <a:solidFill>
            <a:srgbClr val="E890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R1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8E4AF0-DAB8-7570-C3E3-DEE962F82A0F}"/>
              </a:ext>
            </a:extLst>
          </p:cNvPr>
          <p:cNvSpPr/>
          <p:nvPr/>
        </p:nvSpPr>
        <p:spPr>
          <a:xfrm>
            <a:off x="9688135" y="4766487"/>
            <a:ext cx="1248676" cy="484748"/>
          </a:xfrm>
          <a:prstGeom prst="roundRect">
            <a:avLst/>
          </a:prstGeom>
          <a:solidFill>
            <a:srgbClr val="90C2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R2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0FF42-31B4-5661-FA5C-A0274EBB6C4F}"/>
              </a:ext>
            </a:extLst>
          </p:cNvPr>
          <p:cNvSpPr/>
          <p:nvPr/>
        </p:nvSpPr>
        <p:spPr>
          <a:xfrm>
            <a:off x="10939311" y="4766487"/>
            <a:ext cx="566889" cy="484748"/>
          </a:xfrm>
          <a:prstGeom prst="roundRect">
            <a:avLst/>
          </a:prstGeom>
          <a:solidFill>
            <a:srgbClr val="C89BC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R3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13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578D5B-87C2-48ED-1245-C923D1A28D4E}"/>
              </a:ext>
            </a:extLst>
          </p:cNvPr>
          <p:cNvSpPr/>
          <p:nvPr/>
        </p:nvSpPr>
        <p:spPr>
          <a:xfrm>
            <a:off x="918940" y="5284774"/>
            <a:ext cx="245739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Clinton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D1199D-30C1-5999-D7B4-8D3E741FC52B}"/>
              </a:ext>
            </a:extLst>
          </p:cNvPr>
          <p:cNvSpPr/>
          <p:nvPr/>
        </p:nvSpPr>
        <p:spPr>
          <a:xfrm>
            <a:off x="3400149" y="5284774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G. W. Bush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DC7F19-F509-CE77-DF3C-07799A3A1CFC}"/>
              </a:ext>
            </a:extLst>
          </p:cNvPr>
          <p:cNvSpPr/>
          <p:nvPr/>
        </p:nvSpPr>
        <p:spPr>
          <a:xfrm>
            <a:off x="5897501" y="5276579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Obama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9AA7B4-4E22-6F9B-4013-BC56EF469F46}"/>
              </a:ext>
            </a:extLst>
          </p:cNvPr>
          <p:cNvSpPr/>
          <p:nvPr/>
        </p:nvSpPr>
        <p:spPr>
          <a:xfrm>
            <a:off x="8422166" y="5272933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20E071-4A0B-A6BB-5919-38DF8FC30D2A}"/>
              </a:ext>
            </a:extLst>
          </p:cNvPr>
          <p:cNvSpPr/>
          <p:nvPr/>
        </p:nvSpPr>
        <p:spPr>
          <a:xfrm>
            <a:off x="9674300" y="5262749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Biden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931DD04-9806-BB4B-BF5C-497371D21FEC}"/>
              </a:ext>
            </a:extLst>
          </p:cNvPr>
          <p:cNvSpPr/>
          <p:nvPr/>
        </p:nvSpPr>
        <p:spPr>
          <a:xfrm>
            <a:off x="10950647" y="5272039"/>
            <a:ext cx="548627" cy="336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6F7A63C-5E24-FE31-C34A-1F044E550892}"/>
              </a:ext>
            </a:extLst>
          </p:cNvPr>
          <p:cNvSpPr/>
          <p:nvPr/>
        </p:nvSpPr>
        <p:spPr>
          <a:xfrm>
            <a:off x="905105" y="5654105"/>
            <a:ext cx="4076927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Greenspan (1987-2006)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B76C45D-AA9D-0D7E-884F-025791A91B24}"/>
              </a:ext>
            </a:extLst>
          </p:cNvPr>
          <p:cNvSpPr/>
          <p:nvPr/>
        </p:nvSpPr>
        <p:spPr>
          <a:xfrm>
            <a:off x="5009680" y="5654105"/>
            <a:ext cx="2500474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Bernanke (2006-2014)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701276-CB6B-56E7-4040-8D0F05A7AF6A}"/>
              </a:ext>
            </a:extLst>
          </p:cNvPr>
          <p:cNvSpPr/>
          <p:nvPr/>
        </p:nvSpPr>
        <p:spPr>
          <a:xfrm>
            <a:off x="7537801" y="5646581"/>
            <a:ext cx="1332335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Yellen (2014-2018)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D09D58-FE08-5425-00D1-7955CAACC5D8}"/>
              </a:ext>
            </a:extLst>
          </p:cNvPr>
          <p:cNvSpPr/>
          <p:nvPr/>
        </p:nvSpPr>
        <p:spPr>
          <a:xfrm>
            <a:off x="8883981" y="5654104"/>
            <a:ext cx="2622219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Powell (2018-present)</a:t>
            </a:r>
          </a:p>
        </p:txBody>
      </p:sp>
      <p:cxnSp>
        <p:nvCxnSpPr>
          <p:cNvPr id="27" name="Connector 23">
            <a:extLst>
              <a:ext uri="{FF2B5EF4-FFF2-40B4-BE49-F238E27FC236}">
                <a16:creationId xmlns:a16="http://schemas.microsoft.com/office/drawing/2014/main" id="{0FDF3197-768E-6C53-B320-5790EF7AEB29}"/>
              </a:ext>
            </a:extLst>
          </p:cNvPr>
          <p:cNvCxnSpPr>
            <a:cxnSpLocks/>
          </p:cNvCxnSpPr>
          <p:nvPr/>
        </p:nvCxnSpPr>
        <p:spPr>
          <a:xfrm>
            <a:off x="8412456" y="4794034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F17F24-3209-AF4B-8469-802602E78786}"/>
              </a:ext>
            </a:extLst>
          </p:cNvPr>
          <p:cNvSpPr txBox="1"/>
          <p:nvPr/>
        </p:nvSpPr>
        <p:spPr>
          <a:xfrm>
            <a:off x="7758864" y="4332369"/>
            <a:ext cx="12795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2017-01-20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1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29" name="Connector 25">
            <a:extLst>
              <a:ext uri="{FF2B5EF4-FFF2-40B4-BE49-F238E27FC236}">
                <a16:creationId xmlns:a16="http://schemas.microsoft.com/office/drawing/2014/main" id="{17C3F3B1-618E-EE81-DBBE-8ECEF32CD010}"/>
              </a:ext>
            </a:extLst>
          </p:cNvPr>
          <p:cNvCxnSpPr>
            <a:cxnSpLocks/>
          </p:cNvCxnSpPr>
          <p:nvPr/>
        </p:nvCxnSpPr>
        <p:spPr>
          <a:xfrm>
            <a:off x="9681217" y="481803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99B3963-1942-3163-549D-B1973D87BDBF}"/>
              </a:ext>
            </a:extLst>
          </p:cNvPr>
          <p:cNvSpPr txBox="1"/>
          <p:nvPr/>
        </p:nvSpPr>
        <p:spPr>
          <a:xfrm>
            <a:off x="9138623" y="4346181"/>
            <a:ext cx="109123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2021-01-20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Biden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31" name="Connector 27">
            <a:extLst>
              <a:ext uri="{FF2B5EF4-FFF2-40B4-BE49-F238E27FC236}">
                <a16:creationId xmlns:a16="http://schemas.microsoft.com/office/drawing/2014/main" id="{C7214516-DAEE-EE2C-7658-8168200A2D24}"/>
              </a:ext>
            </a:extLst>
          </p:cNvPr>
          <p:cNvCxnSpPr>
            <a:cxnSpLocks/>
          </p:cNvCxnSpPr>
          <p:nvPr/>
        </p:nvCxnSpPr>
        <p:spPr>
          <a:xfrm>
            <a:off x="10949390" y="487036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9F834B6-741A-E155-18AE-1A582C690A7E}"/>
              </a:ext>
            </a:extLst>
          </p:cNvPr>
          <p:cNvSpPr txBox="1"/>
          <p:nvPr/>
        </p:nvSpPr>
        <p:spPr>
          <a:xfrm>
            <a:off x="10243680" y="4332368"/>
            <a:ext cx="125559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2025-01-20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2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7286DE-ED84-6D7D-8E26-423D99BAACC2}"/>
              </a:ext>
            </a:extLst>
          </p:cNvPr>
          <p:cNvSpPr txBox="1"/>
          <p:nvPr/>
        </p:nvSpPr>
        <p:spPr>
          <a:xfrm>
            <a:off x="703062" y="6105313"/>
            <a:ext cx="73684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1993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EAB85F-9CA9-9264-E13A-2C6E752191E1}"/>
              </a:ext>
            </a:extLst>
          </p:cNvPr>
          <p:cNvSpPr txBox="1"/>
          <p:nvPr/>
        </p:nvSpPr>
        <p:spPr>
          <a:xfrm>
            <a:off x="3470701" y="6110139"/>
            <a:ext cx="7632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8FDA4-03A2-E3EF-2ADE-ECE788865C4B}"/>
              </a:ext>
            </a:extLst>
          </p:cNvPr>
          <p:cNvSpPr txBox="1"/>
          <p:nvPr/>
        </p:nvSpPr>
        <p:spPr>
          <a:xfrm>
            <a:off x="5727080" y="6215876"/>
            <a:ext cx="7355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4E75B3-2894-B477-F586-DF3EE722AF85}"/>
              </a:ext>
            </a:extLst>
          </p:cNvPr>
          <p:cNvSpPr txBox="1"/>
          <p:nvPr/>
        </p:nvSpPr>
        <p:spPr>
          <a:xfrm>
            <a:off x="8069396" y="6194628"/>
            <a:ext cx="68611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2017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B91BC-AF18-A5CD-4F73-E3D4BC81B4F7}"/>
              </a:ext>
            </a:extLst>
          </p:cNvPr>
          <p:cNvSpPr txBox="1"/>
          <p:nvPr/>
        </p:nvSpPr>
        <p:spPr>
          <a:xfrm>
            <a:off x="9325191" y="6181375"/>
            <a:ext cx="69130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28CFC-2C9D-C1E3-EA2E-09393B028A7E}"/>
              </a:ext>
            </a:extLst>
          </p:cNvPr>
          <p:cNvSpPr txBox="1"/>
          <p:nvPr/>
        </p:nvSpPr>
        <p:spPr>
          <a:xfrm>
            <a:off x="10533996" y="6181374"/>
            <a:ext cx="83706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62C527-486B-1383-E13B-E1E8723C851A}"/>
              </a:ext>
            </a:extLst>
          </p:cNvPr>
          <p:cNvSpPr txBox="1"/>
          <p:nvPr/>
        </p:nvSpPr>
        <p:spPr>
          <a:xfrm>
            <a:off x="617137" y="1396581"/>
            <a:ext cx="6920664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b="1" dirty="0"/>
              <a:t>Sources from </a:t>
            </a:r>
            <a:r>
              <a:rPr lang="en-US" b="1" dirty="0" err="1"/>
              <a:t>federalreserve.gov</a:t>
            </a:r>
            <a:r>
              <a:rPr lang="en-US" b="1" dirty="0"/>
              <a:t> </a:t>
            </a:r>
            <a:r>
              <a:rPr lang="en-US" dirty="0"/>
              <a:t>(5-10k words per doc)</a:t>
            </a:r>
            <a:endParaRPr lang="en-US" b="1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Federal Open Market Committee (FOMC) minutes (268)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committee that meets 8 times a year and decides monetary policy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Humphrey-Hawkins testimony (58)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twice-yearly testimony Fed Chair reports to Congress on monetary policy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b="1" dirty="0"/>
              <a:t>Preprocessing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First 80 sentences to best capture the policy rationale </a:t>
            </a:r>
          </a:p>
          <a:p>
            <a:pPr>
              <a:spcAft>
                <a:spcPts val="500"/>
              </a:spcAft>
            </a:pPr>
            <a:r>
              <a:rPr lang="en-US" b="1" dirty="0"/>
              <a:t>Target: </a:t>
            </a:r>
            <a:r>
              <a:rPr lang="en-US" dirty="0"/>
              <a:t>10-day forward change in CBOE VIX (FRED VIXCLS)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Aligned to next trading day to avoid look-ahead leakage</a:t>
            </a:r>
          </a:p>
        </p:txBody>
      </p:sp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0A5D41-4F0B-A393-CE9E-D5474464E1AA}"/>
              </a:ext>
            </a:extLst>
          </p:cNvPr>
          <p:cNvSpPr/>
          <p:nvPr/>
        </p:nvSpPr>
        <p:spPr>
          <a:xfrm>
            <a:off x="365760" y="1437469"/>
            <a:ext cx="4132578" cy="1685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Document (80 sentences)</a:t>
            </a:r>
          </a:p>
          <a:p>
            <a:endParaRPr sz="100" b="1" dirty="0">
              <a:solidFill>
                <a:srgbClr val="1F4E79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[1]</a:t>
            </a:r>
            <a:r>
              <a:rPr lang="en-US" sz="1200" dirty="0">
                <a:solidFill>
                  <a:srgbClr val="1A1A1A"/>
                </a:solidFill>
              </a:rPr>
              <a:t> FRB Testimony header / FOMC Minutes header</a:t>
            </a:r>
            <a:endParaRPr sz="1200" dirty="0">
              <a:solidFill>
                <a:srgbClr val="1A1A1A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[2] The performance of the U.S. economy has been quite favorable.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[3] Real GDP growth picked up to more than three percent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[4] Employers added more than two-and-a-half million workers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[5] (... 75 more sentences)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DF4032E-A5DF-C6CB-4031-8D36D860DA20}"/>
              </a:ext>
            </a:extLst>
          </p:cNvPr>
          <p:cNvSpPr/>
          <p:nvPr/>
        </p:nvSpPr>
        <p:spPr>
          <a:xfrm>
            <a:off x="4585648" y="215408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ABC4B0-9ACB-8C25-B8F4-115001581BFE}"/>
              </a:ext>
            </a:extLst>
          </p:cNvPr>
          <p:cNvSpPr/>
          <p:nvPr/>
        </p:nvSpPr>
        <p:spPr>
          <a:xfrm>
            <a:off x="5296580" y="1375598"/>
            <a:ext cx="2798883" cy="16855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20000"/>
          </a:bodyPr>
          <a:lstStyle/>
          <a:p>
            <a:pPr algn="ctr"/>
            <a:r>
              <a:rPr sz="1600" b="1" i="0" dirty="0" err="1">
                <a:solidFill>
                  <a:srgbClr val="1A1A1A"/>
                </a:solidFill>
              </a:rPr>
              <a:t>FinBERT</a:t>
            </a:r>
            <a:r>
              <a:rPr sz="1600" b="1" i="0" dirty="0">
                <a:solidFill>
                  <a:srgbClr val="1A1A1A"/>
                </a:solidFill>
              </a:rPr>
              <a:t> </a:t>
            </a:r>
            <a:r>
              <a:rPr lang="en-US" sz="1600" b="1" dirty="0">
                <a:solidFill>
                  <a:srgbClr val="1A1A1A"/>
                </a:solidFill>
              </a:rPr>
              <a:t>Encoder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BERT-architecture transformer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Pre-trained on 4.9 billion words of finance text by masked language modeling (learning by predicting hidden words)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Frozen: its 110M weights never update. 198 documents is too small to fine-tune that many parameters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049916-2CA5-FD21-F53C-B1C917974F4A}"/>
              </a:ext>
            </a:extLst>
          </p:cNvPr>
          <p:cNvSpPr/>
          <p:nvPr/>
        </p:nvSpPr>
        <p:spPr>
          <a:xfrm>
            <a:off x="8149288" y="2097107"/>
            <a:ext cx="630466" cy="235441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5C20354-61A8-F331-6FF0-3C870C13AEFE}"/>
              </a:ext>
            </a:extLst>
          </p:cNvPr>
          <p:cNvSpPr/>
          <p:nvPr/>
        </p:nvSpPr>
        <p:spPr>
          <a:xfrm rot="10800000">
            <a:off x="4822419" y="403943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18898B-DBD0-5414-9464-F58CE0EA96CB}"/>
              </a:ext>
            </a:extLst>
          </p:cNvPr>
          <p:cNvSpPr/>
          <p:nvPr/>
        </p:nvSpPr>
        <p:spPr>
          <a:xfrm>
            <a:off x="8647306" y="3639816"/>
            <a:ext cx="3241318" cy="19308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10000"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Sentence </a:t>
            </a:r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sz="1600" b="1" i="0" dirty="0">
                <a:solidFill>
                  <a:srgbClr val="FFFFFF"/>
                </a:solidFill>
              </a:rPr>
              <a:t>ttention </a:t>
            </a:r>
            <a:r>
              <a:rPr lang="en-US" sz="1600" b="1" dirty="0">
                <a:solidFill>
                  <a:srgbClr val="FFFFFF"/>
                </a:solidFill>
              </a:rPr>
              <a:t>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Additive (</a:t>
            </a:r>
            <a:r>
              <a:rPr lang="en-US" sz="1200" dirty="0" err="1"/>
              <a:t>Bahdanau</a:t>
            </a:r>
            <a:r>
              <a:rPr lang="en-US" sz="1200" dirty="0"/>
              <a:t>) attention: a small MLP gives each sentence embedding a relevance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</a:t>
            </a:r>
            <a:r>
              <a:rPr lang="en-US" sz="1200" dirty="0" err="1"/>
              <a:t>softmax</a:t>
            </a:r>
            <a:r>
              <a:rPr lang="en-US" sz="1200" dirty="0"/>
              <a:t> converts the scores into weights that sum to 1 (a probability distribution over the sentences)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document embedding is their weighted sum, so high-weight sentences dominate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F38D88-8103-D3ED-7308-A3D1241C4D3E}"/>
              </a:ext>
            </a:extLst>
          </p:cNvPr>
          <p:cNvGrpSpPr/>
          <p:nvPr/>
        </p:nvGrpSpPr>
        <p:grpSpPr>
          <a:xfrm>
            <a:off x="5524056" y="3514379"/>
            <a:ext cx="2605825" cy="1785872"/>
            <a:chOff x="9281375" y="1783080"/>
            <a:chExt cx="2605825" cy="210312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CC1A068-3A9D-928B-A025-BF6E6317C3B8}"/>
                </a:ext>
              </a:extLst>
            </p:cNvPr>
            <p:cNvSpPr/>
            <p:nvPr/>
          </p:nvSpPr>
          <p:spPr>
            <a:xfrm>
              <a:off x="9281375" y="1783080"/>
              <a:ext cx="2605825" cy="2103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64F4D4-CBEF-763D-AE86-EB56ACA91282}"/>
                </a:ext>
              </a:extLst>
            </p:cNvPr>
            <p:cNvSpPr txBox="1"/>
            <p:nvPr/>
          </p:nvSpPr>
          <p:spPr>
            <a:xfrm>
              <a:off x="9434381" y="1813784"/>
              <a:ext cx="2299812" cy="3986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Attention weight</a:t>
              </a:r>
            </a:p>
          </p:txBody>
        </p:sp>
        <p:pic>
          <p:nvPicPr>
            <p:cNvPr id="17" name="Picture 16" descr="_attn_bars.png">
              <a:extLst>
                <a:ext uri="{FF2B5EF4-FFF2-40B4-BE49-F238E27FC236}">
                  <a16:creationId xmlns:a16="http://schemas.microsoft.com/office/drawing/2014/main" id="{5157BF33-433F-A0C0-068B-FCF559765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8375" y="2152070"/>
              <a:ext cx="2048255" cy="1645919"/>
            </a:xfrm>
            <a:prstGeom prst="rect">
              <a:avLst/>
            </a:prstGeom>
          </p:spPr>
        </p:pic>
      </p:grp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DEE4965-D00E-D3CA-1A7D-775269E93883}"/>
              </a:ext>
            </a:extLst>
          </p:cNvPr>
          <p:cNvSpPr/>
          <p:nvPr/>
        </p:nvSpPr>
        <p:spPr>
          <a:xfrm rot="5400000">
            <a:off x="10075439" y="3311335"/>
            <a:ext cx="360805" cy="174133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A933B67-3650-B91F-C4A1-D06DA14C99BE}"/>
              </a:ext>
            </a:extLst>
          </p:cNvPr>
          <p:cNvSpPr/>
          <p:nvPr/>
        </p:nvSpPr>
        <p:spPr>
          <a:xfrm>
            <a:off x="2164730" y="3343622"/>
            <a:ext cx="2657635" cy="168555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 fontScale="92500" lnSpcReduction="20000"/>
          </a:bodyPr>
          <a:lstStyle/>
          <a:p>
            <a:pPr algn="ctr"/>
            <a:endParaRPr lang="en-US" sz="500" b="1" i="0" dirty="0">
              <a:solidFill>
                <a:srgbClr val="FFFFFF"/>
              </a:solidFill>
            </a:endParaRPr>
          </a:p>
          <a:p>
            <a:pPr algn="ctr"/>
            <a:r>
              <a:rPr sz="1600" b="1" i="0" dirty="0">
                <a:solidFill>
                  <a:srgbClr val="FFFFFF"/>
                </a:solidFill>
              </a:rPr>
              <a:t>Linear </a:t>
            </a:r>
            <a:r>
              <a:rPr lang="en-US" sz="1600" b="1" i="0" dirty="0">
                <a:solidFill>
                  <a:srgbClr val="FFFFFF"/>
                </a:solidFill>
              </a:rPr>
              <a:t>R</a:t>
            </a:r>
            <a:r>
              <a:rPr sz="1600" b="1" i="0" dirty="0">
                <a:solidFill>
                  <a:srgbClr val="FFFFFF"/>
                </a:solidFill>
              </a:rPr>
              <a:t>egression </a:t>
            </a:r>
            <a:r>
              <a:rPr lang="en-US" sz="1600" b="1" dirty="0">
                <a:solidFill>
                  <a:srgbClr val="FFFFFF"/>
                </a:solidFill>
              </a:rPr>
              <a:t>H</a:t>
            </a:r>
            <a:r>
              <a:rPr sz="1600" b="1" i="0" dirty="0">
                <a:solidFill>
                  <a:srgbClr val="FFFFFF"/>
                </a:solidFill>
              </a:rPr>
              <a:t>ead</a:t>
            </a:r>
            <a:endParaRPr lang="en-US" sz="1600" b="1" i="0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Maps document embedding to the predicted 10-day VIX change</a:t>
            </a:r>
          </a:p>
          <a:p>
            <a:pPr algn="ctr"/>
            <a:r>
              <a:rPr lang="en-US" sz="1200" dirty="0"/>
              <a:t>y = w*d + b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Trained jointly with the attention by gradient descent on MSE loss to minimize average squared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one linear layer, kept minimal to avoid overfitting on small data</a:t>
            </a:r>
            <a:endParaRPr sz="1200" b="1" i="0" dirty="0">
              <a:solidFill>
                <a:srgbClr val="FFFFFF"/>
              </a:solidFill>
            </a:endParaRPr>
          </a:p>
          <a:p>
            <a:endParaRPr lang="en-US" sz="1100" dirty="0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08503647-23B7-7FFA-2BB6-AB44BDD789E0}"/>
              </a:ext>
            </a:extLst>
          </p:cNvPr>
          <p:cNvSpPr/>
          <p:nvPr/>
        </p:nvSpPr>
        <p:spPr>
          <a:xfrm rot="5400000">
            <a:off x="8194788" y="3806339"/>
            <a:ext cx="235440" cy="669596"/>
          </a:xfrm>
          <a:prstGeom prst="down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5D2CEEE-3674-1AA9-6893-AC7C245037A0}"/>
              </a:ext>
            </a:extLst>
          </p:cNvPr>
          <p:cNvSpPr/>
          <p:nvPr/>
        </p:nvSpPr>
        <p:spPr>
          <a:xfrm>
            <a:off x="365760" y="3750113"/>
            <a:ext cx="1097280" cy="68926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predicted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10-day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VIX change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42BCAD-C2DD-8C34-B4A5-A0F0290A1370}"/>
              </a:ext>
            </a:extLst>
          </p:cNvPr>
          <p:cNvSpPr/>
          <p:nvPr/>
        </p:nvSpPr>
        <p:spPr>
          <a:xfrm>
            <a:off x="5863893" y="3124166"/>
            <a:ext cx="274320" cy="2194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4AF449-5021-E7CE-82C3-36022C9143ED}"/>
              </a:ext>
            </a:extLst>
          </p:cNvPr>
          <p:cNvSpPr txBox="1"/>
          <p:nvPr/>
        </p:nvSpPr>
        <p:spPr>
          <a:xfrm>
            <a:off x="6225902" y="3119400"/>
            <a:ext cx="1828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frozen (no gradients)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96C5BE-4C4B-FC5A-0ADD-3529A09C49BE}"/>
              </a:ext>
            </a:extLst>
          </p:cNvPr>
          <p:cNvSpPr/>
          <p:nvPr/>
        </p:nvSpPr>
        <p:spPr>
          <a:xfrm>
            <a:off x="9511184" y="5660496"/>
            <a:ext cx="274320" cy="2194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07A22-DAF1-D83D-50D9-481D1A4B3234}"/>
              </a:ext>
            </a:extLst>
          </p:cNvPr>
          <p:cNvSpPr txBox="1"/>
          <p:nvPr/>
        </p:nvSpPr>
        <p:spPr>
          <a:xfrm>
            <a:off x="9785504" y="56317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trained (about 100k params)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16D1B2-3AA6-E682-1F0A-4BDAE0348A49}"/>
              </a:ext>
            </a:extLst>
          </p:cNvPr>
          <p:cNvGrpSpPr/>
          <p:nvPr/>
        </p:nvGrpSpPr>
        <p:grpSpPr>
          <a:xfrm>
            <a:off x="8814691" y="1370602"/>
            <a:ext cx="2852706" cy="1786385"/>
            <a:chOff x="8921026" y="1623821"/>
            <a:chExt cx="2423159" cy="178638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75A9BE5-9D9A-F3A9-CC17-FBC621E7BEAB}"/>
                </a:ext>
              </a:extLst>
            </p:cNvPr>
            <p:cNvSpPr/>
            <p:nvPr/>
          </p:nvSpPr>
          <p:spPr>
            <a:xfrm>
              <a:off x="8921026" y="1623821"/>
              <a:ext cx="2377440" cy="178638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B12696-81C0-D778-BFA2-7BAD9149D98F}"/>
                </a:ext>
              </a:extLst>
            </p:cNvPr>
            <p:cNvSpPr txBox="1"/>
            <p:nvPr/>
          </p:nvSpPr>
          <p:spPr>
            <a:xfrm>
              <a:off x="8966745" y="1760470"/>
              <a:ext cx="2377440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768-d sentence embeddings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D66D9B-920A-A971-EF3F-A6A3F987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18" r="24480" b="29830"/>
            <a:stretch>
              <a:fillRect/>
            </a:stretch>
          </p:blipFill>
          <p:spPr>
            <a:xfrm>
              <a:off x="9012466" y="2107252"/>
              <a:ext cx="2211837" cy="1105361"/>
            </a:xfrm>
            <a:prstGeom prst="rect">
              <a:avLst/>
            </a:prstGeom>
          </p:spPr>
        </p:pic>
      </p:grpSp>
      <p:sp>
        <p:nvSpPr>
          <p:cNvPr id="30" name="Right Arrow 29">
            <a:extLst>
              <a:ext uri="{FF2B5EF4-FFF2-40B4-BE49-F238E27FC236}">
                <a16:creationId xmlns:a16="http://schemas.microsoft.com/office/drawing/2014/main" id="{C37B4067-D145-75A9-AFD6-E379A316A99B}"/>
              </a:ext>
            </a:extLst>
          </p:cNvPr>
          <p:cNvSpPr/>
          <p:nvPr/>
        </p:nvSpPr>
        <p:spPr>
          <a:xfrm rot="10800000">
            <a:off x="1476249" y="4023417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6E0641-1B64-43B9-7F51-4D707ED2A840}"/>
              </a:ext>
            </a:extLst>
          </p:cNvPr>
          <p:cNvSpPr/>
          <p:nvPr/>
        </p:nvSpPr>
        <p:spPr>
          <a:xfrm>
            <a:off x="4642073" y="5659443"/>
            <a:ext cx="4107895" cy="96263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lang="en-US" sz="1600" b="1" i="0" dirty="0">
                <a:solidFill>
                  <a:srgbClr val="FFFFFF"/>
                </a:solidFill>
              </a:rPr>
              <a:t>TF-IDF + Ridge baseline (for comparison)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Bag-of-words features, no deep learning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Same temporal splits as the model      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Fixed alpha = 1.0, no inner cross-validation </a:t>
            </a:r>
            <a:endParaRPr sz="1200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9" name="Picture 8" descr="regression_pearson_only.png">
            <a:extLst>
              <a:ext uri="{FF2B5EF4-FFF2-40B4-BE49-F238E27FC236}">
                <a16:creationId xmlns:a16="http://schemas.microsoft.com/office/drawing/2014/main" id="{BB20CB62-EF7A-9CD0-C7CD-29C31D9C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95" y="1237958"/>
            <a:ext cx="6913345" cy="4010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E38654-007C-7D0C-BA79-9A604CF70234}"/>
              </a:ext>
            </a:extLst>
          </p:cNvPr>
          <p:cNvSpPr txBox="1"/>
          <p:nvPr/>
        </p:nvSpPr>
        <p:spPr>
          <a:xfrm>
            <a:off x="709709" y="1386907"/>
            <a:ext cx="44840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Evaluation Metric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Pearson r and p-value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Predicted-vs-actual correlation (r) and probability it's just noise (p)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regime is statistically significant (all p &gt; 0.05)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 reliable out-of-sample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Accuracy changes across regimes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weakest in regime 1 (r = +0.07)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strongest in regime 3 (r = +0.33)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opposite of what we expected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Beats the TF-IDF baseline in regimes 2 and 3, but not in regime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AF2A2-FD22-4888-C66C-FE971FB16B23}"/>
              </a:ext>
            </a:extLst>
          </p:cNvPr>
          <p:cNvSpPr txBox="1"/>
          <p:nvPr/>
        </p:nvSpPr>
        <p:spPr>
          <a:xfrm>
            <a:off x="5513364" y="5336359"/>
            <a:ext cx="635390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Regime 3 has only n = 13 documents (regimes 1 and 2 have 40 each)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So the strong recent result is most likely small-sample noise, not a real trend.</a:t>
            </a:r>
          </a:p>
        </p:txBody>
      </p:sp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 found</a:t>
            </a:r>
          </a:p>
          <a:p>
            <a:pPr lvl="1"/>
            <a:r>
              <a:rPr lang="en-US" dirty="0"/>
              <a:t>No signal: Fed minutes did not predict the 10-day VIX change</a:t>
            </a:r>
          </a:p>
          <a:p>
            <a:pPr lvl="1"/>
            <a:r>
              <a:rPr lang="en-US" dirty="0"/>
              <a:t>Even </a:t>
            </a:r>
            <a:r>
              <a:rPr lang="en-US" dirty="0" err="1"/>
              <a:t>FinBERT</a:t>
            </a:r>
            <a:r>
              <a:rPr lang="en-US" dirty="0"/>
              <a:t> + sentence attention, both strong, established methods, found no predictive signal</a:t>
            </a:r>
          </a:p>
          <a:p>
            <a:pPr lvl="1"/>
            <a:r>
              <a:rPr lang="en-US" dirty="0"/>
              <a:t>A simple TF-IDF baseline did just as well…</a:t>
            </a:r>
          </a:p>
          <a:p>
            <a:r>
              <a:rPr lang="en-US" dirty="0"/>
              <a:t>Where signal might be (future work)</a:t>
            </a:r>
          </a:p>
          <a:p>
            <a:pPr lvl="1"/>
            <a:r>
              <a:rPr lang="en-US" dirty="0"/>
              <a:t>Use FOMC statements (same-day), not minutes (3 weeks late)</a:t>
            </a:r>
          </a:p>
          <a:p>
            <a:pPr lvl="1"/>
            <a:r>
              <a:rPr lang="en-US" dirty="0"/>
              <a:t>Predict intraday VIX to catch the immediate reaction, not 10-day change</a:t>
            </a:r>
          </a:p>
          <a:p>
            <a:pPr lvl="1"/>
            <a:r>
              <a:rPr lang="en-US" dirty="0"/>
              <a:t>Try richer text: statements, speeches, press conferences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1471</TotalTime>
  <Words>759</Words>
  <Application>Microsoft Macintosh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Forecasting Market Volatility (VIX) with Federal Reserve Language  Zoe Tomlinson     |     DSCI 410</vt:lpstr>
      <vt:lpstr>Introduction</vt:lpstr>
      <vt:lpstr>Dataset: 326 Fed documents (1993-2026)</vt:lpstr>
      <vt:lpstr>Model</vt:lpstr>
      <vt:lpstr>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Zoe Tomlinson</cp:lastModifiedBy>
  <cp:revision>87</cp:revision>
  <dcterms:created xsi:type="dcterms:W3CDTF">2025-03-10T17:03:02Z</dcterms:created>
  <dcterms:modified xsi:type="dcterms:W3CDTF">2026-06-09T05:12:37Z</dcterms:modified>
</cp:coreProperties>
</file>